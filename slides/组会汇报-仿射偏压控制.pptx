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8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5">
  <p:sldMasterIdLst>
    <p:sldMasterId id="2147483648" r:id="rId1"/>
    <p:sldMasterId id="2147483653" r:id="rId2"/>
    <p:sldMasterId id="2147483657" r:id="rId3"/>
    <p:sldMasterId id="2147483662" r:id="rId4"/>
    <p:sldMasterId id="2147483668" r:id="rId5"/>
    <p:sldMasterId id="2147483672" r:id="rId6"/>
    <p:sldMasterId id="2147483675" r:id="rId7"/>
    <p:sldMasterId id="2147483679" r:id="rId8"/>
    <p:sldMasterId id="2147483691" r:id="rId9"/>
  </p:sldMasterIdLst>
  <p:notesMasterIdLst>
    <p:notesMasterId r:id="rId63"/>
  </p:notesMasterIdLst>
  <p:sldIdLst>
    <p:sldId id="1454" r:id="rId10"/>
    <p:sldId id="1455" r:id="rId11"/>
    <p:sldId id="1456" r:id="rId12"/>
    <p:sldId id="1457" r:id="rId13"/>
    <p:sldId id="1458" r:id="rId14"/>
    <p:sldId id="1459" r:id="rId15"/>
    <p:sldId id="1460" r:id="rId16"/>
    <p:sldId id="1461" r:id="rId17"/>
    <p:sldId id="1462" r:id="rId18"/>
    <p:sldId id="1463" r:id="rId19"/>
    <p:sldId id="1464" r:id="rId20"/>
    <p:sldId id="1465" r:id="rId21"/>
    <p:sldId id="1466" r:id="rId22"/>
    <p:sldId id="1467" r:id="rId23"/>
    <p:sldId id="1468" r:id="rId24"/>
    <p:sldId id="1469" r:id="rId25"/>
    <p:sldId id="1470" r:id="rId26"/>
    <p:sldId id="1471" r:id="rId27"/>
    <p:sldId id="1472" r:id="rId28"/>
    <p:sldId id="1473" r:id="rId29"/>
    <p:sldId id="1474" r:id="rId30"/>
    <p:sldId id="1475" r:id="rId31"/>
    <p:sldId id="1476" r:id="rId32"/>
    <p:sldId id="1477" r:id="rId33"/>
    <p:sldId id="1478" r:id="rId34"/>
    <p:sldId id="1479" r:id="rId35"/>
    <p:sldId id="1480" r:id="rId36"/>
    <p:sldId id="1481" r:id="rId37"/>
    <p:sldId id="1482" r:id="rId38"/>
    <p:sldId id="1483" r:id="rId39"/>
    <p:sldId id="1484" r:id="rId40"/>
    <p:sldId id="1485" r:id="rId41"/>
    <p:sldId id="1486" r:id="rId42"/>
    <p:sldId id="1487" r:id="rId43"/>
    <p:sldId id="1488" r:id="rId44"/>
    <p:sldId id="1489" r:id="rId45"/>
    <p:sldId id="1490" r:id="rId46"/>
    <p:sldId id="1491" r:id="rId47"/>
    <p:sldId id="1492" r:id="rId48"/>
    <p:sldId id="1493" r:id="rId49"/>
    <p:sldId id="1494" r:id="rId50"/>
    <p:sldId id="1495" r:id="rId51"/>
    <p:sldId id="1496" r:id="rId52"/>
    <p:sldId id="1497" r:id="rId53"/>
    <p:sldId id="1498" r:id="rId54"/>
    <p:sldId id="1499" r:id="rId55"/>
    <p:sldId id="1500" r:id="rId56"/>
    <p:sldId id="1501" r:id="rId57"/>
    <p:sldId id="1502" r:id="rId58"/>
    <p:sldId id="1503" r:id="rId59"/>
    <p:sldId id="1504" r:id="rId60"/>
    <p:sldId id="1505" r:id="rId61"/>
    <p:sldId id="1506" r:id="rId6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A" initials="A" lastIdx="1" clrIdx="0"/>
  <p:cmAuthor id="2" name="Administrator" initials="A" lastIdx="2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 autoAdjust="0"/>
    <p:restoredTop sz="95342" autoAdjust="0"/>
  </p:normalViewPr>
  <p:slideViewPr>
    <p:cSldViewPr showGuides="1">
      <p:cViewPr varScale="1">
        <p:scale>
          <a:sx n="91" d="100"/>
          <a:sy n="91" d="100"/>
        </p:scale>
        <p:origin x="1788" y="6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commentAuthors" Target="commentAuthor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theme" Target="theme/theme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7AE7ACA-BD9F-4D77-AB6E-315ACCA41D52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F74CDF23-0B28-487F-BDAF-0EE70AEF8EE9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5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fontAlgn="auto" latinLnBrk="0" hangingPunct="1"/>
            <a:r>
              <a:rPr lang="zh-CN" altLang="en-US" strike="noStrike" noProof="1"/>
              <a:t>单击此处编辑母版文本样式</a:t>
            </a:r>
          </a:p>
          <a:p>
            <a:pPr lvl="1" eaLnBrk="1" fontAlgn="auto" latinLnBrk="0" hangingPunct="1"/>
            <a:r>
              <a:rPr lang="zh-CN" altLang="en-US" strike="noStrike" noProof="1"/>
              <a:t>第二级</a:t>
            </a:r>
          </a:p>
          <a:p>
            <a:pPr lvl="2" eaLnBrk="1" fontAlgn="auto" latinLnBrk="0" hangingPunct="1"/>
            <a:r>
              <a:rPr lang="zh-CN" altLang="en-US" strike="noStrike" noProof="1"/>
              <a:t>第三级</a:t>
            </a:r>
          </a:p>
          <a:p>
            <a:pPr lvl="3" eaLnBrk="1" fontAlgn="auto" latinLnBrk="0" hangingPunct="1"/>
            <a:r>
              <a:rPr lang="zh-CN" altLang="en-US" strike="noStrike" noProof="1"/>
              <a:t>第四级</a:t>
            </a:r>
          </a:p>
          <a:p>
            <a:pPr lvl="4" eaLnBrk="1" fontAlgn="auto" latinLnBrk="0" hangingPunct="1"/>
            <a:r>
              <a:rPr lang="zh-CN" altLang="en-US" strike="noStrike" noProof="1"/>
              <a:t>第五级</a:t>
            </a:r>
            <a:endParaRPr kumimoji="0" lang="en-US" strike="noStrike" noProof="1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auto"/>
            <a:r>
              <a:rPr kumimoji="0" lang="zh-CN" altLang="en-US" strike="noStrike" noProof="1"/>
              <a:t>单击此处编辑母版标题样式</a:t>
            </a:r>
            <a:endParaRPr kumimoji="0"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2026/6/17</a:t>
            </a:fld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2026/6/17</a:t>
            </a:fld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2026/6/17</a:t>
            </a:fld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fontAlgn="auto">
              <a:defRPr/>
            </a:pPr>
            <a:fld id="{C01E8507-52C6-4265-BE12-85960E163C83}" type="datetime1">
              <a:rPr lang="zh-CN" altLang="en-US" strike="noStrike" noProof="1">
                <a:latin typeface="+mn-lt"/>
                <a:ea typeface="宋体" panose="02010600030101010101" pitchFamily="2" charset="-122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fontAlgn="auto">
              <a:defRPr/>
            </a:pPr>
            <a:endParaRPr lang="zh-CN" altLang="zh-CN" strike="noStrike" noProof="1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 fontAlgn="auto">
              <a:defRPr/>
            </a:pPr>
            <a:fld id="{E2A444BC-60ED-4DF7-A7A3-68FEE76D44E7}" type="slidenum">
              <a:rPr lang="zh-CN" altLang="en-US" strike="noStrike" noProof="1"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4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fontAlgn="auto">
              <a:defRPr/>
            </a:pPr>
            <a:fld id="{84638E3B-35CE-438C-84ED-B1FAC3770CF6}" type="slidenum">
              <a:rPr lang="zh-CN" altLang="en-US" strike="noStrike" noProof="1">
                <a:latin typeface="+mn-lt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2026/6/17</a:t>
            </a:fld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5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2406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9335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495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459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022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4550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2756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6248" y="1555115"/>
            <a:ext cx="3924776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708077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2814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66336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738175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17099981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11096544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1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26135523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88286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jpe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.jpe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.jpe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1031" name="Picture 4" descr="E:\PPT汇报\矢量文件\未命名 -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717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2055" name="Picture 2" descr="E:\PPT汇报\矢量文件\未命名 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9" name="Picture 2" descr="E:\PPT汇报\矢量文件\未命名 -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prstClr val="black">
                    <a:tint val="75000"/>
                  </a:prstClr>
                </a:solidFill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2026/6/17</a:t>
            </a:fld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prstClr val="black">
                    <a:tint val="75000"/>
                  </a:prstClr>
                </a:solidFill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trike="noStrike" noProof="1">
              <a:latin typeface="Times New Roman" panose="02020603050405020304" pitchFamily="18" charset="0"/>
            </a:endParaRPr>
          </a:p>
        </p:txBody>
      </p:sp>
      <p:pic>
        <p:nvPicPr>
          <p:cNvPr id="4103" name="Picture 2" descr="E:\PPT汇报\矢量文件\未命名 -1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2"/>
          <p:cNvSpPr txBox="1"/>
          <p:nvPr/>
        </p:nvSpPr>
        <p:spPr>
          <a:xfrm>
            <a:off x="1042988" y="6497638"/>
            <a:ext cx="6653212" cy="2444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PMingLiU" pitchFamily="18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5127" name="Picture 2" descr="E:\PPT汇报\矢量文件\未命名 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4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charset="0"/>
            </a:endParaRPr>
          </a:p>
        </p:txBody>
      </p:sp>
      <p:pic>
        <p:nvPicPr>
          <p:cNvPr id="6151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2055" name="Picture 2" descr="E:\PPT汇报\矢量文件\未命名 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98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2026/6/17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1031" name="Picture 4" descr="E:\PPT汇报\矢量文件\未命名 -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7175" cy="68580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41524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10.png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1"/>
          <p:cNvSpPr txBox="1"/>
          <p:nvPr/>
        </p:nvSpPr>
        <p:spPr>
          <a:xfrm>
            <a:off x="2502694" y="2132892"/>
            <a:ext cx="4138612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组会汇报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69005862-84B2-4181-BD66-F5C775113BDA}"/>
              </a:ext>
            </a:extLst>
          </p:cNvPr>
          <p:cNvSpPr txBox="1"/>
          <p:nvPr/>
        </p:nvSpPr>
        <p:spPr>
          <a:xfrm>
            <a:off x="5868108" y="4581096"/>
            <a:ext cx="25202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anchor="t" anchorCtr="0">
            <a:spAutoFit/>
          </a:bodyPr>
          <a:lstStyle/>
          <a:p>
            <a:pPr marL="0" inden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汇报时间：2026.06.17</a:t>
            </a:r>
          </a:p>
          <a:p>
            <a:pPr marL="0" inden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人：张新科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F454968-152E-4DBB-8711-523523192B86}"/>
              </a:ext>
            </a:extLst>
          </p:cNvPr>
          <p:cNvSpPr txBox="1"/>
          <p:nvPr/>
        </p:nvSpPr>
        <p:spPr>
          <a:xfrm>
            <a:off x="539664" y="1556844"/>
            <a:ext cx="8064672" cy="171623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汇报内容：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研究背景与问题：任意点偏压控制的结构性困难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信号模型与传统导频锁定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单 MZM 的精确仿射定理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可辨识性、标定与一致增益闭环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 噪声与导频深度设计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6. 推广至 DPMZM：三维环面上的几何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7. 可观测性与 IMD 通道的必要性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8. 三维环面标定与高斯–牛顿解调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9. 偏压控制算法设计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10. 数值验证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11. 实验验证计划（待实测）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12. 讨论、展望与结论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5C98D03-CDB6-4410-BC78-27EAD34196ED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选题：MZM/DPMZM 任意点偏压控制的精确仿射框架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核心命题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只要接收链与解调过程保持线性，偏置相位与导频时间波形可在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传递函数中分离；非理想因素改变的是仿射参数，而非相位特征形式。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由此把任意点偏压控制写成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“标定模型参数 → 反演相位”的两步问题，对单 MZM 与 DPMZM 统一成立。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467832D-C10C-46B9-AA7A-B82C041F47AA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2o8l8g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944" y="3751783"/>
            <a:ext cx="3356110" cy="2905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DF7D44A-BCA5-470F-B76A-C5E225F7C025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背景：偏压慢漂移与导频闭环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漂移来源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LiNbO₃ / InP / 薄膜铌酸锂 MZM 受温度、电荷积累、光折变影响，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偏置点在业务运行期间缓慢漂移，需无中断、可在线持续校正的手段。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传统导频（dither）闭环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小幅低频导频下：一次谐波在零/峰值点过零，二次谐波在正交点过零，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由此形成可实现的误差信号 —— 但最容易工作在正交/零/峰值等特殊点。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微波光子移相/矢量调制、SSB 权重、模拟光计算要求偏置稳在任意设定点。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987B57-00E3-4B56-AAD5-6A9ABA0479E2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C39890-AC43-48C6-A461-D60335755358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任意点控制的三个结构性问题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E7C7B27-914A-47A0-AC03-8E03B637C29E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>
            <a:extLst>
              <a:ext uri="{FF2B5EF4-FFF2-40B4-BE49-F238E27FC236}">
                <a16:creationId xmlns:a16="http://schemas.microsoft.com/office/drawing/2014/main" id="{E2FDABF0-04F9-4371-BBBC-8A368B33483A}"/>
              </a:ext>
            </a:extLst>
          </p:cNvPr>
          <p:cNvSpPr txBox="1"/>
          <p:nvPr/>
        </p:nvSpPr>
        <p:spPr>
          <a:xfrm>
            <a:off x="395935" y="158871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传统任意点方案多从特殊点机制外推（　 信息被压成单一标量谐波）：</a:t>
            </a:r>
          </a:p>
        </p:txBody>
      </p:sp>
      <p:pic>
        <p:nvPicPr>
          <p:cNvPr id="53" name="Picture 52" descr="mke5707777c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615" y="1701495"/>
            <a:ext cx="167640" cy="115824"/>
          </a:xfrm>
          <a:prstGeom prst="rect">
            <a:avLst/>
          </a:prstGeom>
        </p:spPr>
      </p:pic>
      <p:sp>
        <p:nvSpPr>
          <p:cNvPr id="54" name="文本框 3">
            <a:extLst>
              <a:ext uri="{FF2B5EF4-FFF2-40B4-BE49-F238E27FC236}">
                <a16:creationId xmlns:a16="http://schemas.microsoft.com/office/drawing/2014/main" id="{D1EAB7EA-A4FC-4903-B07C-577ED63D04D9}"/>
              </a:ext>
            </a:extLst>
          </p:cNvPr>
          <p:cNvSpPr txBox="1"/>
          <p:nvPr/>
        </p:nvSpPr>
        <p:spPr>
          <a:xfrm>
            <a:off x="395935" y="196362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死区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部分相位附近环路增益趋零，无控制力。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分支歧义</a:t>
            </a:r>
          </a:p>
        </p:txBody>
      </p:sp>
      <p:sp>
        <p:nvSpPr>
          <p:cNvPr id="55" name="文本框 3">
            <a:extLst>
              <a:ext uri="{FF2B5EF4-FFF2-40B4-BE49-F238E27FC236}">
                <a16:creationId xmlns:a16="http://schemas.microsoft.com/office/drawing/2014/main" id="{C4346463-1581-4EF3-930A-ADEF567ECA7F}"/>
              </a:ext>
            </a:extLst>
          </p:cNvPr>
          <p:cNvSpPr txBox="1"/>
          <p:nvPr/>
        </p:nvSpPr>
        <p:spPr>
          <a:xfrm>
            <a:off x="395935" y="329255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　　　 不可区分（　　 不变）。</a:t>
            </a:r>
          </a:p>
        </p:txBody>
      </p:sp>
      <p:pic>
        <p:nvPicPr>
          <p:cNvPr id="56" name="Picture 55" descr="mk9d6f16154b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53" y="3402279"/>
            <a:ext cx="778764" cy="118872"/>
          </a:xfrm>
          <a:prstGeom prst="rect">
            <a:avLst/>
          </a:prstGeom>
        </p:spPr>
      </p:pic>
      <p:pic>
        <p:nvPicPr>
          <p:cNvPr id="57" name="Picture 56" descr="mkbba172e28f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009" y="3364179"/>
            <a:ext cx="330708" cy="156972"/>
          </a:xfrm>
          <a:prstGeom prst="rect">
            <a:avLst/>
          </a:prstGeom>
        </p:spPr>
      </p:pic>
      <p:sp>
        <p:nvSpPr>
          <p:cNvPr id="58" name="文本框 3">
            <a:extLst>
              <a:ext uri="{FF2B5EF4-FFF2-40B4-BE49-F238E27FC236}">
                <a16:creationId xmlns:a16="http://schemas.microsoft.com/office/drawing/2014/main" id="{BD053AEC-E309-49D1-BFF3-F2DE35DB25E5}"/>
              </a:ext>
            </a:extLst>
          </p:cNvPr>
          <p:cNvSpPr txBox="1"/>
          <p:nvPr/>
        </p:nvSpPr>
        <p:spPr>
          <a:xfrm>
            <a:off x="395935" y="366745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增益标定误差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标称增益失配直接转化为静态锁定偏差，并被死区因子放大。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前两者是拓扑必然，第三者是可辨识性代价；恢复二维观测是同时消除三者的最小代价。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8F5DDE-D81C-91EE-A2D9-A9F8CC983C21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本文主要贡献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E705D90-BBE6-1E76-F5AC-46701A0D92A5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>
            <a:extLst>
              <a:ext uri="{FF2B5EF4-FFF2-40B4-BE49-F238E27FC236}">
                <a16:creationId xmlns:a16="http://schemas.microsoft.com/office/drawing/2014/main" id="{68057CDC-0AB9-4FD2-8D7C-A5FD8C395EC0}"/>
              </a:ext>
            </a:extLst>
          </p:cNvPr>
          <p:cNvSpPr txBox="1"/>
          <p:nvPr/>
        </p:nvSpPr>
        <p:spPr>
          <a:xfrm>
            <a:off x="395935" y="158871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单 MZM 精确仿射定理：　　　　　　　　，给出闭式表达。</a:t>
            </a:r>
          </a:p>
        </p:txBody>
      </p:sp>
      <p:pic>
        <p:nvPicPr>
          <p:cNvPr id="53" name="Picture 52" descr="mk5dfd0b83b3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18" y="1652727"/>
            <a:ext cx="1417320" cy="164592"/>
          </a:xfrm>
          <a:prstGeom prst="rect">
            <a:avLst/>
          </a:prstGeom>
        </p:spPr>
      </p:pic>
      <p:sp>
        <p:nvSpPr>
          <p:cNvPr id="54" name="文本框 3">
            <a:extLst>
              <a:ext uri="{FF2B5EF4-FFF2-40B4-BE49-F238E27FC236}">
                <a16:creationId xmlns:a16="http://schemas.microsoft.com/office/drawing/2014/main" id="{FFE6E078-0F2D-48B4-AEFC-4AB2E9B35877}"/>
              </a:ext>
            </a:extLst>
          </p:cNvPr>
          <p:cNvSpPr txBox="1"/>
          <p:nvPr/>
        </p:nvSpPr>
        <p:spPr>
          <a:xfrm>
            <a:off x="395935" y="196362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统一解释正交/零/峰锁定、幅值匹配、谐波比值法及其静差。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自标定任意点控制：椭圆辨识 + 规范固定 + atan2 解调，闭环增益与目标点无关。</a:t>
            </a:r>
          </a:p>
        </p:txBody>
      </p:sp>
      <p:sp>
        <p:nvSpPr>
          <p:cNvPr id="55" name="文本框 3">
            <a:extLst>
              <a:ext uri="{FF2B5EF4-FFF2-40B4-BE49-F238E27FC236}">
                <a16:creationId xmlns:a16="http://schemas.microsoft.com/office/drawing/2014/main" id="{67798C9C-56B3-4AD4-A206-30AD5837DE2E}"/>
              </a:ext>
            </a:extLst>
          </p:cNvPr>
          <p:cNvSpPr txBox="1"/>
          <p:nvPr/>
        </p:nvSpPr>
        <p:spPr>
          <a:xfrm>
            <a:off x="395935" y="315539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 DPMZM 推广：状态空间提升为 　，12 维三角特征映射保持仿射性。</a:t>
            </a:r>
          </a:p>
        </p:txBody>
      </p:sp>
      <p:pic>
        <p:nvPicPr>
          <p:cNvPr id="56" name="Picture 55" descr="mk18dc8499fd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941" y="3193186"/>
            <a:ext cx="163068" cy="152400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FC6463C9-30C5-4A9A-900D-3E1A59ED519D}"/>
              </a:ext>
            </a:extLst>
          </p:cNvPr>
          <p:cNvSpPr txBox="1"/>
          <p:nvPr/>
        </p:nvSpPr>
        <p:spPr>
          <a:xfrm>
            <a:off x="395935" y="353029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⑤ IMD 通道可观测性解释：标准 QPSK 点秩退化，加互调通道恢复父偏置可观测。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⑥ 面向实现的标定与解调算法：每控制周期算力 &lt; 10³ 次乘加。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仿真：任意点静差降至毫弧度量级，较传统多环基线降低一至两个数量级。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D0F775D-27C9-4FF3-A6E1-79D51A278A6A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MZM 模型与解调泛函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推挽单驱 MZM 输出强度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ACA46A3-12D3-4867-882A-D63B56F7B1A6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信号模型与传统锁定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mz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36" y="2083511"/>
            <a:ext cx="3081528" cy="25146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63900CD4-EDD8-4D98-9C83-9152F176408B}"/>
              </a:ext>
            </a:extLst>
          </p:cNvPr>
          <p:cNvSpPr txBox="1"/>
          <p:nvPr/>
        </p:nvSpPr>
        <p:spPr>
          <a:xfrm>
            <a:off x="395935" y="244469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式中 　　　　　　　，导频 　　　　　　　，　　　　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f3b0f5a1a8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08707"/>
            <a:ext cx="1170432" cy="164592"/>
          </a:xfrm>
          <a:prstGeom prst="rect">
            <a:avLst/>
          </a:prstGeom>
        </p:spPr>
      </p:pic>
      <p:pic>
        <p:nvPicPr>
          <p:cNvPr id="55" name="Picture 54" descr="mk0d5d7e0646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548" y="2470302"/>
            <a:ext cx="1085088" cy="164592"/>
          </a:xfrm>
          <a:prstGeom prst="rect">
            <a:avLst/>
          </a:prstGeom>
        </p:spPr>
      </p:pic>
      <p:pic>
        <p:nvPicPr>
          <p:cNvPr id="56" name="Picture 55" descr="mk09d7d63692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066" y="2511755"/>
            <a:ext cx="873252" cy="161544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B7BD9474-0A85-478A-82E0-794FADFE2958}"/>
              </a:ext>
            </a:extLst>
          </p:cNvPr>
          <p:cNvSpPr txBox="1"/>
          <p:nvPr/>
        </p:nvSpPr>
        <p:spPr>
          <a:xfrm>
            <a:off x="395935" y="281960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锁相解调建模为线性泛函（输入波形 → 输出标量）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8" name="Picture 57" descr="lock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4204" y="3378403"/>
            <a:ext cx="4355592" cy="202692"/>
          </a:xfrm>
          <a:prstGeom prst="rect">
            <a:avLst/>
          </a:prstGeom>
        </p:spPr>
      </p:pic>
      <p:sp>
        <p:nvSpPr>
          <p:cNvPr id="59" name="文本框 3">
            <a:extLst>
              <a:ext uri="{FF2B5EF4-FFF2-40B4-BE49-F238E27FC236}">
                <a16:creationId xmlns:a16="http://schemas.microsoft.com/office/drawing/2014/main" id="{212CF064-2136-426B-BDC7-C27E872C25D9}"/>
              </a:ext>
            </a:extLst>
          </p:cNvPr>
          <p:cNvSpPr txBox="1"/>
          <p:nvPr/>
        </p:nvSpPr>
        <p:spPr>
          <a:xfrm>
            <a:off x="395935" y="3690823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式中上横线为低通时间平均，　　　 为参考相位误差（含群延迟）。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0" name="Picture 59" descr="mk9bca46f78a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059" y="3774643"/>
            <a:ext cx="377952" cy="144780"/>
          </a:xfrm>
          <a:prstGeom prst="rect">
            <a:avLst/>
          </a:prstGeom>
        </p:spPr>
      </p:pic>
      <p:sp>
        <p:nvSpPr>
          <p:cNvPr id="61" name="文本框 3">
            <a:extLst>
              <a:ext uri="{FF2B5EF4-FFF2-40B4-BE49-F238E27FC236}">
                <a16:creationId xmlns:a16="http://schemas.microsoft.com/office/drawing/2014/main" id="{24959451-11F6-4A5B-A25E-9730266B2645}"/>
              </a:ext>
            </a:extLst>
          </p:cNvPr>
          <p:cNvSpPr txBox="1"/>
          <p:nvPr/>
        </p:nvSpPr>
        <p:spPr>
          <a:xfrm>
            <a:off x="395935" y="4065727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观测量 　　　　　　（H1 通道），　　　　　　（H2 通道）。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2" name="Picture 61" descr="mk662f27874b4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974" y="4135831"/>
            <a:ext cx="906780" cy="158496"/>
          </a:xfrm>
          <a:prstGeom prst="rect">
            <a:avLst/>
          </a:prstGeom>
        </p:spPr>
      </p:pic>
      <p:pic>
        <p:nvPicPr>
          <p:cNvPr id="63" name="Picture 62" descr="mka1014bc8415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9840" y="4135831"/>
            <a:ext cx="931164" cy="158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1A1ADA1-6C2A-4C07-9884-268AF5AE6ECA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谐波结构：Jacobi–Anger 展开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偶次谐波携带 cos φb，奇次携带 sin φb，直流携带 1+ηJ₀(m)cos φb：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06282B8-F22E-4680-9AD3-166EDD2A611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信号模型与传统锁定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65760" y="2083511"/>
          <a:ext cx="841248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光电流分量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φb 依赖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传统用途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直流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功率监测；规范基准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零/峰值点锁定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正交点锁定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3ω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（少用）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3" name="Picture 52" descr="hm_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036" y="2653893"/>
            <a:ext cx="1648968" cy="231648"/>
          </a:xfrm>
          <a:prstGeom prst="rect">
            <a:avLst/>
          </a:prstGeom>
        </p:spPr>
      </p:pic>
      <p:pic>
        <p:nvPicPr>
          <p:cNvPr id="54" name="Picture 53" descr="h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054" y="3144621"/>
            <a:ext cx="1360932" cy="164592"/>
          </a:xfrm>
          <a:prstGeom prst="rect">
            <a:avLst/>
          </a:prstGeom>
        </p:spPr>
      </p:pic>
      <p:pic>
        <p:nvPicPr>
          <p:cNvPr id="55" name="Picture 54" descr="hm_2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3601821"/>
            <a:ext cx="1389888" cy="164592"/>
          </a:xfrm>
          <a:prstGeom prst="rect">
            <a:avLst/>
          </a:prstGeom>
        </p:spPr>
      </p:pic>
      <p:pic>
        <p:nvPicPr>
          <p:cNvPr id="56" name="Picture 55" descr="hm_3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054" y="4059021"/>
            <a:ext cx="1360932" cy="164592"/>
          </a:xfrm>
          <a:prstGeom prst="rect">
            <a:avLst/>
          </a:prstGeom>
        </p:spPr>
      </p:pic>
      <p:pic>
        <p:nvPicPr>
          <p:cNvPr id="57" name="Picture 56" descr="dep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6265" y="2711043"/>
            <a:ext cx="437388" cy="117348"/>
          </a:xfrm>
          <a:prstGeom prst="rect">
            <a:avLst/>
          </a:prstGeom>
        </p:spPr>
      </p:pic>
      <p:pic>
        <p:nvPicPr>
          <p:cNvPr id="58" name="Picture 57" descr="dep_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030" y="3148431"/>
            <a:ext cx="403860" cy="156972"/>
          </a:xfrm>
          <a:prstGeom prst="rect">
            <a:avLst/>
          </a:prstGeom>
        </p:spPr>
      </p:pic>
      <p:pic>
        <p:nvPicPr>
          <p:cNvPr id="59" name="Picture 58" descr="dep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6265" y="3625443"/>
            <a:ext cx="437388" cy="117348"/>
          </a:xfrm>
          <a:prstGeom prst="rect">
            <a:avLst/>
          </a:prstGeom>
        </p:spPr>
      </p:pic>
      <p:pic>
        <p:nvPicPr>
          <p:cNvPr id="60" name="Picture 59" descr="dep_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030" y="4062831"/>
            <a:ext cx="403860" cy="156972"/>
          </a:xfrm>
          <a:prstGeom prst="rect">
            <a:avLst/>
          </a:prstGeom>
        </p:spPr>
      </p:pic>
      <p:sp>
        <p:nvSpPr>
          <p:cNvPr id="61" name="文本框 3">
            <a:extLst>
              <a:ext uri="{FF2B5EF4-FFF2-40B4-BE49-F238E27FC236}">
                <a16:creationId xmlns:a16="http://schemas.microsoft.com/office/drawing/2014/main" id="{608394EF-8F31-40CC-BD34-A968D2CA97D6}"/>
              </a:ext>
            </a:extLst>
          </p:cNvPr>
          <p:cNvSpPr txBox="1"/>
          <p:nvPr/>
        </p:nvSpPr>
        <p:spPr>
          <a:xfrm>
            <a:off x="395935" y="447923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理想极限（θ=0、正弦 ξ、无串扰）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2" name="Picture 61" descr="id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6416" y="5038039"/>
            <a:ext cx="4011168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E633F0-5215-4107-B3C0-8E07FFD72104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特殊点锁定及其静差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每种特殊点方案只读取 u(φb)=(cos φb, sin φb) 的一个坐标，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且只工作在过零点邻域：斜率最大、误差过零（增益标定相消）、另一坐标判符号。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正交点 / 零·峰值点静差（仿射记号线性化）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DE60FEC-5910-4259-B493-C8FF132A5D2F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信号模型与传统锁定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sQ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28" y="2926791"/>
            <a:ext cx="2828544" cy="38862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5CE87D3C-F2FC-4EDB-82BB-8434B339C0FB}"/>
              </a:ext>
            </a:extLst>
          </p:cNvPr>
          <p:cNvSpPr txBox="1"/>
          <p:nvPr/>
        </p:nvSpPr>
        <p:spPr>
          <a:xfrm>
            <a:off x="395935" y="342513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式中 　　、　　、　 为仿射元素；静差即“非对角/偏置元素 ÷ 对角斜率”。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6781228e0a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08" y="3483051"/>
            <a:ext cx="210312" cy="170688"/>
          </a:xfrm>
          <a:prstGeom prst="rect">
            <a:avLst/>
          </a:prstGeom>
        </p:spPr>
      </p:pic>
      <p:pic>
        <p:nvPicPr>
          <p:cNvPr id="55" name="Picture 54" descr="mk81a2c99bbb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162" y="3505911"/>
            <a:ext cx="184404" cy="147828"/>
          </a:xfrm>
          <a:prstGeom prst="rect">
            <a:avLst/>
          </a:prstGeom>
        </p:spPr>
      </p:pic>
      <p:pic>
        <p:nvPicPr>
          <p:cNvPr id="56" name="Picture 55" descr="mk9034328c35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043" y="3505911"/>
            <a:ext cx="167640" cy="147828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66A56830-68D0-4FA2-A2D2-7547B4210AEA}"/>
              </a:ext>
            </a:extLst>
          </p:cNvPr>
          <p:cNvSpPr txBox="1"/>
          <p:nvPr/>
        </p:nvSpPr>
        <p:spPr>
          <a:xfrm>
            <a:off x="395935" y="380004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一旦离开过零点，斜率最大、增益标定相消、符号判别三项便利同时失效。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3FB359-38F7-40B7-8C8B-F34FE3CF237B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通往任意点的传统路线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幅值匹配：驱动 Y → 标称参考值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4D43E3F-2EEC-45D0-BF8F-1E75BC93CD9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信号模型与传统锁定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s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75" y="2083511"/>
            <a:ext cx="3432048" cy="431292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ECCA27BD-C38C-4CD5-9B36-42E2C5A90A0E}"/>
              </a:ext>
            </a:extLst>
          </p:cNvPr>
          <p:cNvSpPr txBox="1"/>
          <p:nvPr/>
        </p:nvSpPr>
        <p:spPr>
          <a:xfrm>
            <a:off x="395935" y="262453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局部增益 　　　　　　 在正交点附近消失（死区）；　 在 　　　　　 下不变（分支歧义）。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c45bdb2573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04" y="2690063"/>
            <a:ext cx="960120" cy="163068"/>
          </a:xfrm>
          <a:prstGeom prst="rect">
            <a:avLst/>
          </a:prstGeom>
        </p:spPr>
      </p:pic>
      <p:pic>
        <p:nvPicPr>
          <p:cNvPr id="55" name="Picture 54" descr="mk57cec4137b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962" y="2698902"/>
            <a:ext cx="99060" cy="115824"/>
          </a:xfrm>
          <a:prstGeom prst="rect">
            <a:avLst/>
          </a:prstGeom>
        </p:spPr>
      </p:pic>
      <p:pic>
        <p:nvPicPr>
          <p:cNvPr id="56" name="Picture 55" descr="mk9d6f16154b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568" y="2734259"/>
            <a:ext cx="778764" cy="118872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627293F8-3862-4B08-94FE-97AC528E6C91}"/>
              </a:ext>
            </a:extLst>
          </p:cNvPr>
          <p:cNvSpPr txBox="1"/>
          <p:nvPr/>
        </p:nvSpPr>
        <p:spPr>
          <a:xfrm>
            <a:off x="395935" y="299943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谐波比值法：消去公共功率标量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8" name="Picture 57" descr="rat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898" y="3558235"/>
            <a:ext cx="1632204" cy="164592"/>
          </a:xfrm>
          <a:prstGeom prst="rect">
            <a:avLst/>
          </a:prstGeom>
        </p:spPr>
      </p:pic>
      <p:sp>
        <p:nvSpPr>
          <p:cNvPr id="59" name="文本框 3">
            <a:extLst>
              <a:ext uri="{FF2B5EF4-FFF2-40B4-BE49-F238E27FC236}">
                <a16:creationId xmlns:a16="http://schemas.microsoft.com/office/drawing/2014/main" id="{3289891F-C6E4-414E-9ACA-41B0B994806F}"/>
              </a:ext>
            </a:extLst>
          </p:cNvPr>
          <p:cNvSpPr txBox="1"/>
          <p:nvPr/>
        </p:nvSpPr>
        <p:spPr>
          <a:xfrm>
            <a:off x="395935" y="3832555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隐含假设 　 对角且 　　　；偏置破坏余切律，　　　 邻域噪声按 　　 放大。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0" name="Picture 59" descr="mk7fc56270e7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800" y="3903878"/>
            <a:ext cx="109728" cy="118872"/>
          </a:xfrm>
          <a:prstGeom prst="rect">
            <a:avLst/>
          </a:prstGeom>
        </p:spPr>
      </p:pic>
      <p:pic>
        <p:nvPicPr>
          <p:cNvPr id="61" name="Picture 60" descr="mk4ee6500685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6325" y="3900830"/>
            <a:ext cx="393192" cy="121920"/>
          </a:xfrm>
          <a:prstGeom prst="rect">
            <a:avLst/>
          </a:prstGeom>
        </p:spPr>
      </p:pic>
      <p:pic>
        <p:nvPicPr>
          <p:cNvPr id="62" name="Picture 61" descr="mk81dfa0d93f5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1825" y="3900830"/>
            <a:ext cx="469392" cy="121920"/>
          </a:xfrm>
          <a:prstGeom prst="rect">
            <a:avLst/>
          </a:prstGeom>
        </p:spPr>
      </p:pic>
      <p:pic>
        <p:nvPicPr>
          <p:cNvPr id="63" name="Picture 62" descr="mk90f3c40f09b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3735" y="3835298"/>
            <a:ext cx="323088" cy="187452"/>
          </a:xfrm>
          <a:prstGeom prst="rect">
            <a:avLst/>
          </a:prstGeom>
        </p:spPr>
      </p:pic>
      <p:sp>
        <p:nvSpPr>
          <p:cNvPr id="64" name="文本框 3">
            <a:extLst>
              <a:ext uri="{FF2B5EF4-FFF2-40B4-BE49-F238E27FC236}">
                <a16:creationId xmlns:a16="http://schemas.microsoft.com/office/drawing/2014/main" id="{DEA00EA3-D986-4EE6-9271-8D3F0EB8C7DD}"/>
              </a:ext>
            </a:extLst>
          </p:cNvPr>
          <p:cNvSpPr txBox="1"/>
          <p:nvPr/>
        </p:nvSpPr>
        <p:spPr>
          <a:xfrm>
            <a:off x="395935" y="420745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一次除法只能消去一个公共标量；真实失配是六参数的仿射群作用。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E12551-9276-4647-8804-4E2392065E29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拓扑障碍（命题 1）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单标量谐波误差函数的内在缺陷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由单个标量谐波特征 g(φb) 构造的任何误差函数都是光滑 2π 周期函数：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Rolle 定理 ⇒ 每周期内必有临界点 g′(φ†)=0，该处环路增益消失；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周期函数在一个周期上不可能单射 ⇒ 分支歧义不可避免。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二维特征的对照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E5B4689-63D2-4C5A-BD82-EE4788BFD11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信号模型与传统锁定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>
            <a:extLst>
              <a:ext uri="{FF2B5EF4-FFF2-40B4-BE49-F238E27FC236}">
                <a16:creationId xmlns:a16="http://schemas.microsoft.com/office/drawing/2014/main" id="{E7013930-06BC-4A69-9DCD-C930099D67EC}"/>
              </a:ext>
            </a:extLst>
          </p:cNvPr>
          <p:cNvSpPr txBox="1"/>
          <p:nvPr/>
        </p:nvSpPr>
        <p:spPr>
          <a:xfrm>
            <a:off x="395935" y="369691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映射 　　　　　 是浸入 　　　　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3" name="Picture 52" descr="mk42e5a084e2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76" y="3760927"/>
            <a:ext cx="874776" cy="164592"/>
          </a:xfrm>
          <a:prstGeom prst="rect">
            <a:avLst/>
          </a:prstGeom>
        </p:spPr>
      </p:pic>
      <p:pic>
        <p:nvPicPr>
          <p:cNvPr id="54" name="Picture 53" descr="mk033641feb3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001" y="3731666"/>
            <a:ext cx="624840" cy="155448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1C49400B-0FE7-4603-8183-5E45B6435739}"/>
              </a:ext>
            </a:extLst>
          </p:cNvPr>
          <p:cNvSpPr txBox="1"/>
          <p:nvPr/>
        </p:nvSpPr>
        <p:spPr>
          <a:xfrm>
            <a:off x="395935" y="4071823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满足 　　　　（处处有增益）且在 　　　 上单射（无歧义）。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6" name="Picture 55" descr="mk6bbb8ba206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42" y="4100474"/>
            <a:ext cx="580644" cy="161544"/>
          </a:xfrm>
          <a:prstGeom prst="rect">
            <a:avLst/>
          </a:prstGeom>
        </p:spPr>
      </p:pic>
      <p:pic>
        <p:nvPicPr>
          <p:cNvPr id="57" name="Picture 56" descr="mka496e90b23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292" y="4097426"/>
            <a:ext cx="457200" cy="164592"/>
          </a:xfrm>
          <a:prstGeom prst="rect">
            <a:avLst/>
          </a:prstGeom>
        </p:spPr>
      </p:pic>
      <p:sp>
        <p:nvSpPr>
          <p:cNvPr id="58" name="文本框 3">
            <a:extLst>
              <a:ext uri="{FF2B5EF4-FFF2-40B4-BE49-F238E27FC236}">
                <a16:creationId xmlns:a16="http://schemas.microsoft.com/office/drawing/2014/main" id="{5A68B9E7-398D-40CD-846A-B5B18018257A}"/>
              </a:ext>
            </a:extLst>
          </p:cNvPr>
          <p:cNvSpPr txBox="1"/>
          <p:nvPr/>
        </p:nvSpPr>
        <p:spPr>
          <a:xfrm>
            <a:off x="395935" y="4446727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二维化是消除死区与歧义的最小代价；但物理给出的是 u 的未知形变像。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9DE90B-01F9-443F-983D-14A18E095D13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相位因子分解（引理 1）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对任意波形 ξ(t)，下式精确成立——偏置相位与时间依赖完全因子化：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E4D47C1-C64E-4F71-8B1A-8F5DB758DEB7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 MZM 精确仿射定理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260" y="2083511"/>
            <a:ext cx="3459480" cy="164592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574D08A1-64C9-414C-8487-07B2F4F2CF27}"/>
              </a:ext>
            </a:extLst>
          </p:cNvPr>
          <p:cNvSpPr txBox="1"/>
          <p:nvPr/>
        </p:nvSpPr>
        <p:spPr>
          <a:xfrm>
            <a:off x="395935" y="235783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含义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导频波形决定线性映射（如何把单位圆拉成椭圆），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偏置相位决定单位圆上的位置。两者在传递函数中天然分离。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这是整个仿射框架的代数起点：不必小信号近似，对任意周期导频成立。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C537A1-281A-42F6-9B27-78DB5BB11AED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精确仿射定理（定理 1）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任意周期导频 + 任意线性接收链 + 线性解调泛函下，下式精确成立：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FCFA226-4850-49CD-90EA-DB060D75FF62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 MZM 精确仿射定理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52" y="2083511"/>
            <a:ext cx="3358896" cy="19812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8DA86B83-4905-439C-941F-655ED7843497}"/>
              </a:ext>
            </a:extLst>
          </p:cNvPr>
          <p:cNvSpPr txBox="1"/>
          <p:nvPr/>
        </p:nvSpPr>
        <p:spPr>
          <a:xfrm>
            <a:off x="395935" y="239135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仿射矩阵 A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A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38" y="2950159"/>
            <a:ext cx="2973324" cy="432816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6BF80216-D08A-499E-8656-4460976E540D}"/>
              </a:ext>
            </a:extLst>
          </p:cNvPr>
          <p:cNvSpPr txBox="1"/>
          <p:nvPr/>
        </p:nvSpPr>
        <p:spPr>
          <a:xfrm>
            <a:off x="395935" y="349270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偏置 b 与噪声 n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6" name="Picture 55" descr="bnv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4051503"/>
            <a:ext cx="3017520" cy="432816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EBE91431-F1EF-472B-BAE8-00FDEF8F6FF0}"/>
              </a:ext>
            </a:extLst>
          </p:cNvPr>
          <p:cNvSpPr txBox="1"/>
          <p:nvPr/>
        </p:nvSpPr>
        <p:spPr>
          <a:xfrm>
            <a:off x="395935" y="4594047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常数项 　　　 被两个泛函湮灭；　　　 为混频器直流失调。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8" name="Picture 57" descr="mkcadee1986e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77" y="4659579"/>
            <a:ext cx="461772" cy="163068"/>
          </a:xfrm>
          <a:prstGeom prst="rect">
            <a:avLst/>
          </a:prstGeom>
        </p:spPr>
      </p:pic>
      <p:pic>
        <p:nvPicPr>
          <p:cNvPr id="59" name="Picture 58" descr="mkd1ebf8eb1b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8012" y="4676343"/>
            <a:ext cx="518160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D52627-D118-4774-9505-F30CCA84EC2F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线性非理想 → 仿射参数（不改模型形式）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线性非理想因素通过 A、b 改变观测椭圆的位置/尺度/方向；相位仍只经 u(φb) 进入。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理想对角元（传统谐波斜率）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AF95338-3CE4-4628-92E2-870A9642B9AC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 MZM 精确仿射定理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A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916" y="2789631"/>
            <a:ext cx="2868168" cy="153924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75D46FA0-A6A2-4CF2-8EA6-AD31C4DAADDD}"/>
              </a:ext>
            </a:extLst>
          </p:cNvPr>
          <p:cNvSpPr txBox="1"/>
          <p:nvPr/>
        </p:nvSpPr>
        <p:spPr>
          <a:xfrm>
            <a:off x="395935" y="3053283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以含二次谐波失真的导频 　　　　　　　　　　　　　 为例：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69146ecd7f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542" y="3078886"/>
            <a:ext cx="2257044" cy="164592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AF64B46D-B4AD-4A4B-ADD7-F868B575CDF7}"/>
              </a:ext>
            </a:extLst>
          </p:cNvPr>
          <p:cNvSpPr txBox="1"/>
          <p:nvPr/>
        </p:nvSpPr>
        <p:spPr>
          <a:xfrm>
            <a:off x="395935" y="3428187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至一阶，导频二次谐波失真主要生成 A 的非对角耦合（详见附录）；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3">
            <a:extLst>
              <a:ext uri="{FF2B5EF4-FFF2-40B4-BE49-F238E27FC236}">
                <a16:creationId xmlns:a16="http://schemas.microsoft.com/office/drawing/2014/main" id="{B038DC5E-5307-412B-BAB1-C70F7C8E1C20}"/>
              </a:ext>
            </a:extLst>
          </p:cNvPr>
          <p:cNvSpPr txBox="1"/>
          <p:nvPr/>
        </p:nvSpPr>
        <p:spPr>
          <a:xfrm>
            <a:off x="395935" y="3913835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理想极限下 　　　　　　　　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7" name="Picture 56" descr="mk87ed5611a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188" y="3974795"/>
            <a:ext cx="1520952" cy="167640"/>
          </a:xfrm>
          <a:prstGeom prst="rect">
            <a:avLst/>
          </a:prstGeom>
        </p:spPr>
      </p:pic>
      <p:sp>
        <p:nvSpPr>
          <p:cNvPr id="58" name="文本框 3">
            <a:extLst>
              <a:ext uri="{FF2B5EF4-FFF2-40B4-BE49-F238E27FC236}">
                <a16:creationId xmlns:a16="http://schemas.microsoft.com/office/drawing/2014/main" id="{82F7E7F0-E956-4E8F-8A7B-568F428E6B74}"/>
              </a:ext>
            </a:extLst>
          </p:cNvPr>
          <p:cNvSpPr txBox="1"/>
          <p:nvPr/>
        </p:nvSpPr>
        <p:spPr>
          <a:xfrm>
            <a:off x="395935" y="428873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分界的工程意义：与导频相干的确定性干扰进 　（可标定补偿），非相干噪声进 　（只能统计抑制）。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9" name="Picture 58" descr="mkba38380d4c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744" y="4357014"/>
            <a:ext cx="91440" cy="121920"/>
          </a:xfrm>
          <a:prstGeom prst="rect">
            <a:avLst/>
          </a:prstGeom>
        </p:spPr>
      </p:pic>
      <p:pic>
        <p:nvPicPr>
          <p:cNvPr id="60" name="Picture 59" descr="mke15c02a49f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610" y="4395114"/>
            <a:ext cx="92964" cy="83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47DB5C-B414-47C4-A136-B03D761E7A72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观测椭圆与模型边界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几何：无噪观测落在椭圆上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56CA641-9650-41AA-9AFC-048C7EB775CB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 MZM 精确仿射定理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elli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08" y="2083511"/>
            <a:ext cx="3300984" cy="19812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26430ED3-1CE5-4DA5-BF7F-4246A180D417}"/>
              </a:ext>
            </a:extLst>
          </p:cNvPr>
          <p:cNvSpPr txBox="1"/>
          <p:nvPr/>
        </p:nvSpPr>
        <p:spPr>
          <a:xfrm>
            <a:off x="395935" y="239135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　　　　　　　　 为定义椭圆的正定二次型；中心为 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e8fae11722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77" y="2392578"/>
            <a:ext cx="1309116" cy="188976"/>
          </a:xfrm>
          <a:prstGeom prst="rect">
            <a:avLst/>
          </a:prstGeom>
        </p:spPr>
      </p:pic>
      <p:pic>
        <p:nvPicPr>
          <p:cNvPr id="55" name="Picture 54" descr="mkba38380d4c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72" y="2459634"/>
            <a:ext cx="91440" cy="121920"/>
          </a:xfrm>
          <a:prstGeom prst="rect">
            <a:avLst/>
          </a:prstGeom>
        </p:spPr>
      </p:pic>
      <p:sp>
        <p:nvSpPr>
          <p:cNvPr id="56" name="文本框 3">
            <a:extLst>
              <a:ext uri="{FF2B5EF4-FFF2-40B4-BE49-F238E27FC236}">
                <a16:creationId xmlns:a16="http://schemas.microsoft.com/office/drawing/2014/main" id="{B158B19F-2A32-4E7E-8EE8-ED0FBE105238}"/>
              </a:ext>
            </a:extLst>
          </p:cNvPr>
          <p:cNvSpPr txBox="1"/>
          <p:nvPr/>
        </p:nvSpPr>
        <p:spPr>
          <a:xfrm>
            <a:off x="395935" y="276626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模型边界（需单独处理的非仿射效应）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光电探测/跨阻非线性 ⇒ cos 2φb 型非仿射残差（小信号下二阶）；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部分 InP 器件偏压相关吸收（电吸收/残余幅度调制）⇒ 乘性因子 T(φb)；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导频深度 m 的慢漂移 ⇒ A 缓变，需重定标处理。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0D194DA-4B2C-4A01-9FA1-EEF12929C568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规范自由度：S¹ 的稳定子 O(2)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椭圆有 5 个参数，而 (A, b) 有 6 个自由度，差额来自单位圆的稳定子：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稳定子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9E0D212-C2D5-4F05-9CEC-35E5734BA36E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标定与一致增益闭环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3">
            <a:extLst>
              <a:ext uri="{FF2B5EF4-FFF2-40B4-BE49-F238E27FC236}">
                <a16:creationId xmlns:a16="http://schemas.microsoft.com/office/drawing/2014/main" id="{09B3D1BC-48CE-4CE3-9601-271D3AB7F839}"/>
              </a:ext>
            </a:extLst>
          </p:cNvPr>
          <p:cNvSpPr txBox="1"/>
          <p:nvPr/>
        </p:nvSpPr>
        <p:spPr>
          <a:xfrm>
            <a:off x="395935" y="243199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对任意 　　　　，　　　　 不改变椭圆像集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3" name="Picture 52" descr="mk9f541e7a91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6" y="2457602"/>
            <a:ext cx="669036" cy="164592"/>
          </a:xfrm>
          <a:prstGeom prst="rect">
            <a:avLst/>
          </a:prstGeom>
        </p:spPr>
      </p:pic>
      <p:pic>
        <p:nvPicPr>
          <p:cNvPr id="54" name="Picture 53" descr="mk2c0c3deb04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809" y="2503322"/>
            <a:ext cx="635508" cy="118872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967FCECE-BD1C-4D50-933D-7A378FF059DE}"/>
              </a:ext>
            </a:extLst>
          </p:cNvPr>
          <p:cNvSpPr txBox="1"/>
          <p:nvPr/>
        </p:nvSpPr>
        <p:spPr>
          <a:xfrm>
            <a:off x="395935" y="280690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（u 跑遍单位圆时 Ru 也跑遍单位圆）。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后果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3">
            <a:extLst>
              <a:ext uri="{FF2B5EF4-FFF2-40B4-BE49-F238E27FC236}">
                <a16:creationId xmlns:a16="http://schemas.microsoft.com/office/drawing/2014/main" id="{8BC1AFFB-7448-4DAD-A050-3DAE327F0FB5}"/>
              </a:ext>
            </a:extLst>
          </p:cNvPr>
          <p:cNvSpPr txBox="1"/>
          <p:nvPr/>
        </p:nvSpPr>
        <p:spPr>
          <a:xfrm>
            <a:off x="395935" y="371419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单靠椭圆几何只能把 A 辨识到右乘正交阵的等价类，相位仍有 　　　　　　　 歧义。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7" name="Picture 56" descr="mkfd90a978d0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3787343"/>
            <a:ext cx="1118616" cy="155448"/>
          </a:xfrm>
          <a:prstGeom prst="rect">
            <a:avLst/>
          </a:prstGeom>
        </p:spPr>
      </p:pic>
      <p:sp>
        <p:nvSpPr>
          <p:cNvPr id="58" name="文本框 3">
            <a:extLst>
              <a:ext uri="{FF2B5EF4-FFF2-40B4-BE49-F238E27FC236}">
                <a16:creationId xmlns:a16="http://schemas.microsoft.com/office/drawing/2014/main" id="{CFC17507-BB54-4478-9E4F-26D4940553F0}"/>
              </a:ext>
            </a:extLst>
          </p:cNvPr>
          <p:cNvSpPr txBox="1"/>
          <p:nvPr/>
        </p:nvSpPr>
        <p:spPr>
          <a:xfrm>
            <a:off x="395935" y="408909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规范固定需额外信息：直流通道提供相位原点，扫描方向提供定向。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D2DA7BE-D6F0-4B6E-A5E8-61AEDC9AB9B7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四步标定算法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(i) 对偏压作满周期慢扫，记录 {zᵢ, īᵢ}；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(ii) 中心化/归一后代数最小二乘拟合二次曲线 ⇒ 中心 b̂、M≻0（高噪用 Fitzgibbon）；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(iii) 由驻点解中心、取对称平方根 M^½，由轨道环绕方向固定反射；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(iv) 旋转规范由整条直流序列对 (1, cos θ, sin θ) 回归固定 φ_c。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解调器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F5C3D27-2408-4B9F-AA4C-C5B62FA26E66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标定与一致增益闭环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de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18" y="4054551"/>
            <a:ext cx="3369564" cy="22098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C07A1D75-292D-4BAC-9FBB-2EA35AAB4056}"/>
              </a:ext>
            </a:extLst>
          </p:cNvPr>
          <p:cNvSpPr txBox="1"/>
          <p:nvPr/>
        </p:nvSpPr>
        <p:spPr>
          <a:xfrm>
            <a:off x="395935" y="438525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直流回归把标定引入的解调偏差中位从 　　 mrad 降至 　　 mrad（　　　　　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349d3fc8b5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279" y="4456582"/>
            <a:ext cx="277368" cy="118872"/>
          </a:xfrm>
          <a:prstGeom prst="rect">
            <a:avLst/>
          </a:prstGeom>
        </p:spPr>
      </p:pic>
      <p:pic>
        <p:nvPicPr>
          <p:cNvPr id="55" name="Picture 54" descr="mk02ebb8be1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196" y="4456582"/>
            <a:ext cx="188976" cy="118872"/>
          </a:xfrm>
          <a:prstGeom prst="rect">
            <a:avLst/>
          </a:prstGeom>
        </p:spPr>
      </p:pic>
      <p:pic>
        <p:nvPicPr>
          <p:cNvPr id="56" name="Picture 55" descr="mk54e20c97f4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72" y="4487367"/>
            <a:ext cx="726948" cy="1264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62CB198-5C07-4168-9728-387A2A86E0CB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标定示例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m=1.2、σ=0.005、N=360，含增益失配、10° 非正交、交叉耦合 ε=0.10 与偏置：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 原始观测平面：拟合椭圆、中心 b̂、φ=π 基准点；(b) 回拉样本 û=B(z−b̂) 落于单位圆。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A15D5B1-F950-4338-8843-AC17712BAD28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标定与一致增益闭环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uy48428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17" y="2771343"/>
            <a:ext cx="6913565" cy="38854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FEC722B-90D3-4262-B1C5-34A924497BB3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一致增益闭环与方案对照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解调后相位误差与真实偏差直接对应，不依赖目标点；配合常数执行斜率 π/Vπ，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同一组 PI(D) 参数可用于整个偏置周期。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B1EEA94-6D14-47D7-BDD9-57F6B21C9ECE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标定与一致增益闭环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457200" y="2505151"/>
          <a:ext cx="8229600" cy="25237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可锁点集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增益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静差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歧义性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H2 过零（正交）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{π/2,3π/2}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ηκ₂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半周期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H1 过零（零/峰）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{0,π}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ηκ₁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半周期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幅值匹配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死区之外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ηκ₁|cosφ*|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式(AM)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φ↔π−φ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谐波比值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Y 非小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随目标点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b 主导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双象限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仿射法（本文）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[0,2π)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0（模型内）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3" name="Picture 52" descr="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916" y="2962656"/>
            <a:ext cx="583207" cy="347472"/>
          </a:xfrm>
          <a:prstGeom prst="rect">
            <a:avLst/>
          </a:prstGeom>
        </p:spPr>
      </p:pic>
      <p:pic>
        <p:nvPicPr>
          <p:cNvPr id="54" name="Picture 53" descr="s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410" y="3383280"/>
            <a:ext cx="568218" cy="347472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9DD7565E-DEF1-4E02-A3DF-5C352E1D0CB8}"/>
              </a:ext>
            </a:extLst>
          </p:cNvPr>
          <p:cNvSpPr txBox="1"/>
          <p:nvPr/>
        </p:nvSpPr>
        <p:spPr>
          <a:xfrm>
            <a:off x="395935" y="513862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仿射法零静差指模型内不含死区、分支歧义与增益标定偏差，与漂移跟踪误差相互独立。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DFCAF6-AFAF-41C7-94C3-0D12938AFBFC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 MZM 自标定 + 闭环算法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标定阶段（上电执行一次）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慢扫偏压覆盖 [0,2π)，记录 {z, ī}；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代数最小二乘拟合锥曲线 ⇒ 中心 b̂、M=(AAᵀ)⁻¹；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B₀=M^½，由环绕方向定反射 F；④ 直流回归得相位原点 φ_c，B=R(−φ_c)F B₀。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运行阶段（每控制周期）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读锁相 z=(Y,X)；② û=B(z−b̂)，φ̂=atan2(û_y,û_x)；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e=wrap(φ̂−φ*)；④ PI 更新 Vb ← Vb − G·e·Vπ/π 写 DAC；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⑤ 残差 ρ=|‖û‖−1| 持续越限 ⇒ 触发重定标。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atan2 给出与工作点无关的相位误差，是相对传统方法的核心优势。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23F29E5-F6B1-4753-8130-A25C4A4926C5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标定与一致增益闭环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99CFFF-F8B3-4405-9306-BF70AD919A74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相位噪声与条件数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沿切向一阶摄动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1A6D260-46B4-4BA0-A5CA-86EE3FBFEB43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噪声与导频深度设计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542" y="2083511"/>
            <a:ext cx="4280916" cy="477011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D3839ADA-C5B7-4823-8E33-A35CE3ADB8A3}"/>
              </a:ext>
            </a:extLst>
          </p:cNvPr>
          <p:cNvSpPr txBox="1"/>
          <p:nvPr/>
        </p:nvSpPr>
        <p:spPr>
          <a:xfrm>
            <a:off x="395935" y="267025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几何含义：相位只沿椭圆切向移动，相位噪声 = 测量噪声 　 ÷ 椭圆在该方向的拉伸量。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a2ab7d71a0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175" y="2818079"/>
            <a:ext cx="117348" cy="80772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FBA4F4B3-9CFA-4438-8E3A-F8329B6B623C}"/>
              </a:ext>
            </a:extLst>
          </p:cNvPr>
          <p:cNvSpPr txBox="1"/>
          <p:nvPr/>
        </p:nvSpPr>
        <p:spPr>
          <a:xfrm>
            <a:off x="395935" y="304515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条件数即椭圆扁度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6" name="Picture 55" descr="kap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906" y="3603955"/>
            <a:ext cx="4552188" cy="216408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B1F086DB-1C35-430C-80FC-A68CA5F8C914}"/>
              </a:ext>
            </a:extLst>
          </p:cNvPr>
          <p:cNvSpPr txBox="1"/>
          <p:nvPr/>
        </p:nvSpPr>
        <p:spPr>
          <a:xfrm>
            <a:off x="395935" y="393009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理想链路 　　　　　　　　　，故 　　　　　　　　　　　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8" name="Picture 57" descr="mkea377e191d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678" y="3991051"/>
            <a:ext cx="1452372" cy="167640"/>
          </a:xfrm>
          <a:prstGeom prst="rect">
            <a:avLst/>
          </a:prstGeom>
        </p:spPr>
      </p:pic>
      <p:pic>
        <p:nvPicPr>
          <p:cNvPr id="59" name="Picture 58" descr="mk675c394a13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1052" y="3994099"/>
            <a:ext cx="2087880" cy="164592"/>
          </a:xfrm>
          <a:prstGeom prst="rect">
            <a:avLst/>
          </a:prstGeom>
        </p:spPr>
      </p:pic>
      <p:sp>
        <p:nvSpPr>
          <p:cNvPr id="60" name="文本框 3">
            <a:extLst>
              <a:ext uri="{FF2B5EF4-FFF2-40B4-BE49-F238E27FC236}">
                <a16:creationId xmlns:a16="http://schemas.microsoft.com/office/drawing/2014/main" id="{3505EB06-E3EA-49D9-B86F-CB6729EA966A}"/>
              </a:ext>
            </a:extLst>
          </p:cNvPr>
          <p:cNvSpPr txBox="1"/>
          <p:nvPr/>
        </p:nvSpPr>
        <p:spPr>
          <a:xfrm>
            <a:off x="395935" y="4304995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最坏情形由最小奇异值 　　　　 封顶；插入式估计当 　　 适中时与 CRB 仅差二阶。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1" name="Picture 60" descr="mk0d05ded8fb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0224" y="4369003"/>
            <a:ext cx="563880" cy="164592"/>
          </a:xfrm>
          <a:prstGeom prst="rect">
            <a:avLst/>
          </a:prstGeom>
        </p:spPr>
      </p:pic>
      <p:pic>
        <p:nvPicPr>
          <p:cNvPr id="62" name="Picture 61" descr="mk65813dc3016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3381" y="4369003"/>
            <a:ext cx="335280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C1CFC4-04B0-47A0-AC7B-C02A048CFADD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导频深度选择：两难权衡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m 过小：J₂≈m²/8 很小，H2 通道幅度被噪声淹没，κ(A) 按 1/J₂≈8/m² 急剧放大；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m 过大：导频本身对业务信号的调制损伤随 m² 增大，并激起更高次谐波。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折中区即设计取值，本文取 m=1.2（理想比值 3.13，含失配真值矩阵 2.59）。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C02096-EF40-41EA-B44C-C7FE40FCA72F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噪声与导频深度设计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on7x6n9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192983"/>
            <a:ext cx="6035040" cy="3166711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3D2840BF-5234-457A-935F-8D0CB683ADA8}"/>
              </a:ext>
            </a:extLst>
          </p:cNvPr>
          <p:cNvSpPr txBox="1"/>
          <p:nvPr/>
        </p:nvSpPr>
        <p:spPr>
          <a:xfrm>
            <a:off x="395935" y="6451134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κ(A) 可作为选择导频深度的单一量化指标。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25A5D84-5C2B-4C61-A878-DE822306B89E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场模型与半角结构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DPMZM 由两子 MZM 嵌套于父干涉仪，偏置相位 φ=(φ₁,φ₂,φ₃)。无 RF 数据时：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2AA2DDD-83AD-496F-9FB0-B89D329607A2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推广至 DPMZM：T³ 几何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dp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678" y="2083511"/>
            <a:ext cx="3628644" cy="356616"/>
          </a:xfrm>
          <a:prstGeom prst="rect">
            <a:avLst/>
          </a:prstGeom>
        </p:spPr>
      </p:pic>
      <p:pic>
        <p:nvPicPr>
          <p:cNvPr id="53" name="Picture 52" descr="dp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696" y="2623007"/>
            <a:ext cx="4102607" cy="359664"/>
          </a:xfrm>
          <a:prstGeom prst="rect">
            <a:avLst/>
          </a:prstGeom>
        </p:spPr>
      </p:pic>
      <p:sp>
        <p:nvSpPr>
          <p:cNvPr id="54" name="文本框 3">
            <a:extLst>
              <a:ext uri="{FF2B5EF4-FFF2-40B4-BE49-F238E27FC236}">
                <a16:creationId xmlns:a16="http://schemas.microsoft.com/office/drawing/2014/main" id="{18BF22E3-3763-4265-B3B7-1DC3EA0BABB2}"/>
              </a:ext>
            </a:extLst>
          </p:cNvPr>
          <p:cNvSpPr txBox="1"/>
          <p:nvPr/>
        </p:nvSpPr>
        <p:spPr>
          <a:xfrm>
            <a:off x="395935" y="309239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前两项为两子 MZM 自项；末项来自父干涉仪交叉干涉，含子相位的半角 　　　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5" name="Picture 54" descr="mkb2173d30e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902" y="3156407"/>
            <a:ext cx="682752" cy="164592"/>
          </a:xfrm>
          <a:prstGeom prst="rect">
            <a:avLst/>
          </a:prstGeom>
        </p:spPr>
      </p:pic>
      <p:sp>
        <p:nvSpPr>
          <p:cNvPr id="56" name="文本框 3">
            <a:extLst>
              <a:ext uri="{FF2B5EF4-FFF2-40B4-BE49-F238E27FC236}">
                <a16:creationId xmlns:a16="http://schemas.microsoft.com/office/drawing/2014/main" id="{09970BFF-5246-47F8-98AC-3E170424323A}"/>
              </a:ext>
            </a:extLst>
          </p:cNvPr>
          <p:cNvSpPr txBox="1"/>
          <p:nvPr/>
        </p:nvSpPr>
        <p:spPr>
          <a:xfrm>
            <a:off x="395935" y="346730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半角结构是 DPMZM 相对单 MZM 的关键差异，带来三个直接后果。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5B5A3E3-A009-4A79-AFA4-A1F3FCF97500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半角结构的三个直接后果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4π 周期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cos(φ₁/2) 周期为 4π：φ₁→φ₁+2π 时子场与交叉项同时变号，输出可区分；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子轴标定扫描应覆盖 4π（电压 4Vπ），是单 MZM 常规范围的两倍。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Klein 等价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D3301C5-E41F-4A37-A9B5-B4ADD14860EB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推广至 DPMZM：T³ 几何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kl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260" y="3348431"/>
            <a:ext cx="4221480" cy="164592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49C6761D-31C7-4F0E-8451-F3BCCB15F115}"/>
              </a:ext>
            </a:extLst>
          </p:cNvPr>
          <p:cNvSpPr txBox="1"/>
          <p:nvPr/>
        </p:nvSpPr>
        <p:spPr>
          <a:xfrm>
            <a:off x="395935" y="362275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二者生成 　　　　　　　　　；构型空间为商 　　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1b74c1cac6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0" y="3688282"/>
            <a:ext cx="1511808" cy="163068"/>
          </a:xfrm>
          <a:prstGeom prst="rect">
            <a:avLst/>
          </a:prstGeom>
        </p:spPr>
      </p:pic>
      <p:pic>
        <p:nvPicPr>
          <p:cNvPr id="55" name="Picture 54" descr="mkeef99a5ef1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104" y="3647135"/>
            <a:ext cx="417576" cy="204216"/>
          </a:xfrm>
          <a:prstGeom prst="rect">
            <a:avLst/>
          </a:prstGeom>
        </p:spPr>
      </p:pic>
      <p:sp>
        <p:nvSpPr>
          <p:cNvPr id="56" name="文本框 3">
            <a:extLst>
              <a:ext uri="{FF2B5EF4-FFF2-40B4-BE49-F238E27FC236}">
                <a16:creationId xmlns:a16="http://schemas.microsoft.com/office/drawing/2014/main" id="{08831811-488B-4B04-BB88-C4EA3AB7F689}"/>
              </a:ext>
            </a:extLst>
          </p:cNvPr>
          <p:cNvSpPr txBox="1"/>
          <p:nvPr/>
        </p:nvSpPr>
        <p:spPr>
          <a:xfrm>
            <a:off x="395935" y="399765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任意点运行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 QPSK 偏置为 (π,π,±π/2)（双子零点、父正交、载波抑制）；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任意点运行（矢量调制、SSB 权重）把三轴停在一般位置。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D3C9BA-AAAF-4BBC-A747-68FA1D2851DF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强度图与 Klein 商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强度 P(φ₁,φ₂; φ₃=π/2) 在 [0,4π)² 区片：标准 QPSK 点（实心）与其三个 Klein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像（空心）具有相同强度，对应 V₄ 商结构；对 QPSK 仅是星座重标记与全局相位。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9916589-B36E-4853-8BB2-49CAC4A0BBB5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推广至 DPMZM：T³ 几何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apoasl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771343"/>
            <a:ext cx="4754880" cy="35434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ADB2509-E531-4C9F-BA0D-6ECD8C9CE71C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 维三角特征映射与仿射定理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对三相位各用一次因子分解（半角版逐字成立）并三线性展开交叉项，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光电流的 φ 依赖只能由十二个三角单项式构成：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92A677E-DF8B-4BE8-963B-94B023FD35E5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推广至 DPMZM：T³ 几何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2505151"/>
            <a:ext cx="6697980" cy="201168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C6789119-737E-4AEA-9A11-701C5AA20287}"/>
              </a:ext>
            </a:extLst>
          </p:cNvPr>
          <p:cNvSpPr txBox="1"/>
          <p:nvPr/>
        </p:nvSpPr>
        <p:spPr>
          <a:xfrm>
            <a:off x="395935" y="2816047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DPMZM 精确仿射性（定理 2）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dpaf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076" y="3374847"/>
            <a:ext cx="2593848" cy="196596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9D6220EF-FC87-40F8-90AF-BEDD5FCEBB50}"/>
              </a:ext>
            </a:extLst>
          </p:cNvPr>
          <p:cNvSpPr txBox="1"/>
          <p:nvPr/>
        </p:nvSpPr>
        <p:spPr>
          <a:xfrm>
            <a:off x="395935" y="368117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理想链路下 　　　 由九通道系数给出，且高度稀疏（每行一至二个非零元）。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6" name="Picture 55" descr="mk5e9848dc59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708" y="3764991"/>
            <a:ext cx="515112" cy="144780"/>
          </a:xfrm>
          <a:prstGeom prst="rect">
            <a:avLst/>
          </a:prstGeom>
        </p:spPr>
      </p:pic>
      <p:sp>
        <p:nvSpPr>
          <p:cNvPr id="57" name="文本框 3">
            <a:extLst>
              <a:ext uri="{FF2B5EF4-FFF2-40B4-BE49-F238E27FC236}">
                <a16:creationId xmlns:a16="http://schemas.microsoft.com/office/drawing/2014/main" id="{AE3C4ACE-73CE-4BCB-8F9A-2EE370D55E65}"/>
              </a:ext>
            </a:extLst>
          </p:cNvPr>
          <p:cNvSpPr txBox="1"/>
          <p:nvPr/>
        </p:nvSpPr>
        <p:spPr>
          <a:xfrm>
            <a:off x="395935" y="405607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做法：先固定特征映射 Φ，再用线性回归辨识 A、b 以吸收线性链路失配。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5B5D2B-EE05-4FE9-870D-8E59BB40A785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结构对应：单 MZM ↔ DPMZM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3937A49-DB4B-4D6F-865C-71CB09BED8E4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推广至 DPMZM：T³ 几何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457200" y="1661871"/>
          <a:ext cx="8229600" cy="3785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单 MZM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DPMZM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状态流形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S¹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T³（构型 T̃³/V₄）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特征映射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u∈R²（恒等）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Φ∈R¹²（含半角）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轴向周期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2π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子轴 4π，父轴 2π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通道数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2（ω, 2ω）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≥7，IMD 必需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曲面拟合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椭圆（二次簇）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准周期扫描回归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规范群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O(2)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T³⋊(反射×V₄)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解调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atan2（闭式）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热启动高斯–牛顿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不可观修复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H1/H2 联用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IMD 通道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1E1800-CAEE-4AA8-8301-B56AC582FBB2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观测雅可比与秩条件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解调局部可行性由观测雅可比的秩条件刻画（命题 1 浸入论证的三维推广）：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742F434-3E9F-4870-88E6-54FAF11174BB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可观测性与 IMD 通道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j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654" y="2083511"/>
            <a:ext cx="3250692" cy="196596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3CBB2E40-CF75-4621-BA2E-2E0DAD237B69}"/>
              </a:ext>
            </a:extLst>
          </p:cNvPr>
          <p:cNvSpPr txBox="1"/>
          <p:nvPr/>
        </p:nvSpPr>
        <p:spPr>
          <a:xfrm>
            <a:off x="395935" y="238983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命题 2（标准点不可观及其奇异轨迹）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取六个谐波通道 Y₁₂₃, X₁₂₃ 与理想 A₀，使父轴不可观的集合为 {c₁=c₂=0}，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即标准 QPSK 工作点的 Klein 轨道，且对任意 φ₃ 成立。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加入 IMD 通道 Z₋ 后，单项式 s₁s₂C₃ 的 φ₃ 偏导在标准点为 ∓1，恢复满秩。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六谐波通道在标准 QPSK 点缺少父偏置方向信息；IMD 音检测父偏置 = 恢复雅可比秩。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69DDAE-B856-451E-AC5E-BB20B4FD6EB9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可观测性热图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log₁₀σmin(𝒥) 于 (φ₁,φ₂)∈[0,4π)²：暗紫=近奇异（盲区），亮黄=可观测。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6A32490-02C1-427B-8364-02E48CB9CCB6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可观测性与 IMD 通道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zpa0h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2065223"/>
            <a:ext cx="8595360" cy="302783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EA4E8169-A627-4C73-8B98-680ECBF4679A}"/>
              </a:ext>
            </a:extLst>
          </p:cNvPr>
          <p:cNvSpPr txBox="1"/>
          <p:nvPr/>
        </p:nvSpPr>
        <p:spPr>
          <a:xfrm>
            <a:off x="395935" y="518449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 六谐波/φ₃=π/2：低秩区落在 Klein 轨道（4 个暗斑）；(b) 加 IMD 恢复；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(c) 九通道/φ₃=0：残余奇点 (π,π,0)（输出全暗，σmin≈1.1×10⁻¹⁷）。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4D246AB-0C78-44DA-A46B-111DF459036D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准周期扫描线性回归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Φ(T³) 非二次簇，无闭式椭圆拟合；但观测对 Φ 仍线性，可用普通最小二乘：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54E8A48-7F5B-4352-A08E-6648C84192B6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T³ 标定与高斯–牛顿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re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362" y="2083511"/>
            <a:ext cx="3351276" cy="469392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155D3458-4CDC-40E3-9F5B-AEFF176D37E7}"/>
              </a:ext>
            </a:extLst>
          </p:cNvPr>
          <p:cNvSpPr txBox="1"/>
          <p:nvPr/>
        </p:nvSpPr>
        <p:spPr>
          <a:xfrm>
            <a:off x="395935" y="2662631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 　　　 Gram 分解服务所有 K 个通道；取增量比无理的准周期轨线 　　　　　，单条轨线即可覆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23fcb7469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46" y="2730906"/>
            <a:ext cx="516635" cy="121920"/>
          </a:xfrm>
          <a:prstGeom prst="rect">
            <a:avLst/>
          </a:prstGeom>
        </p:spPr>
      </p:pic>
      <p:pic>
        <p:nvPicPr>
          <p:cNvPr id="55" name="Picture 54" descr="mk007f4bc05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401" y="2726639"/>
            <a:ext cx="848868" cy="164592"/>
          </a:xfrm>
          <a:prstGeom prst="rect">
            <a:avLst/>
          </a:prstGeom>
        </p:spPr>
      </p:pic>
      <p:sp>
        <p:nvSpPr>
          <p:cNvPr id="56" name="文本框 3">
            <a:extLst>
              <a:ext uri="{FF2B5EF4-FFF2-40B4-BE49-F238E27FC236}">
                <a16:creationId xmlns:a16="http://schemas.microsoft.com/office/drawing/2014/main" id="{A15A66DA-4FC8-4994-8648-6F5AF4030A37}"/>
              </a:ext>
            </a:extLst>
          </p:cNvPr>
          <p:cNvSpPr txBox="1"/>
          <p:nvPr/>
        </p:nvSpPr>
        <p:spPr>
          <a:xfrm>
            <a:off x="395935" y="2973527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盖 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7" name="Picture 56" descr="mk18dc8499fd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0" y="3011322"/>
            <a:ext cx="163068" cy="152400"/>
          </a:xfrm>
          <a:prstGeom prst="rect">
            <a:avLst/>
          </a:prstGeom>
        </p:spPr>
      </p:pic>
      <p:pic>
        <p:nvPicPr>
          <p:cNvPr id="58" name="Picture 57" descr="tmp655ri_j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3403295"/>
            <a:ext cx="5120640" cy="2633010"/>
          </a:xfrm>
          <a:prstGeom prst="rect">
            <a:avLst/>
          </a:prstGeom>
        </p:spPr>
      </p:pic>
      <p:sp>
        <p:nvSpPr>
          <p:cNvPr id="59" name="文本框 3">
            <a:extLst>
              <a:ext uri="{FF2B5EF4-FFF2-40B4-BE49-F238E27FC236}">
                <a16:creationId xmlns:a16="http://schemas.microsoft.com/office/drawing/2014/main" id="{AA7A38BE-FD07-4227-936A-63BBCEBAB3C1}"/>
              </a:ext>
            </a:extLst>
          </p:cNvPr>
          <p:cNvSpPr txBox="1"/>
          <p:nvPr/>
        </p:nvSpPr>
        <p:spPr>
          <a:xfrm>
            <a:off x="395935" y="612774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回归所得 Â（色块）对照理想 A₀ 稀疏指纹（方框）；框外色块为注入失配 δA=0.12。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0F5A9F-680D-4ECA-9553-66D599660F14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热启动高斯–牛顿解调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圆嵌入有全局闭式逆，Φ(T³) 没有；但偏压控制是跟踪问题，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可用上一周期估计热启动，执行阻尼高斯–牛顿步：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293AEE6-2D61-4FA8-9DB4-68DA94F695C4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T³ 标定与高斯–牛顿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607" y="2505151"/>
            <a:ext cx="3224784" cy="219456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507650D5-6EA9-41FF-BB15-71697F9D0142}"/>
              </a:ext>
            </a:extLst>
          </p:cNvPr>
          <p:cNvSpPr txBox="1"/>
          <p:nvPr/>
        </p:nvSpPr>
        <p:spPr>
          <a:xfrm>
            <a:off x="395935" y="2834335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本文仿真设置下两次迭代即达测量噪声地板；收敛域由 　　　　 与嵌入曲率共同决定。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fd95aa222f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088" y="2898343"/>
            <a:ext cx="606552" cy="164592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F3DD4E13-EF83-4064-8913-0DB1E95B8B7F}"/>
              </a:ext>
            </a:extLst>
          </p:cNvPr>
          <p:cNvSpPr txBox="1"/>
          <p:nvPr/>
        </p:nvSpPr>
        <p:spPr>
          <a:xfrm>
            <a:off x="395935" y="320923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借助 Â 稀疏性，每控制周期约数百次乘加 + 一次 3×3 求解，适合 Cortex-M 级控制器。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8CBBFF-443E-41BC-8FC7-8B36BB25D6E5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父轴噪声与对照基线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估计协方差为 Cramér–Rao 型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13F56CE-1674-45E3-BC49-EA459F8FB57D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T³ 标定与高斯–牛顿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covc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962" y="2083511"/>
            <a:ext cx="1370076" cy="213360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669013FE-A56A-48A3-A1B4-594F8A8E6779}"/>
              </a:ext>
            </a:extLst>
          </p:cNvPr>
          <p:cNvSpPr txBox="1"/>
          <p:nvPr/>
        </p:nvSpPr>
        <p:spPr>
          <a:xfrm>
            <a:off x="395935" y="240659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双子零点附近父相位方差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parent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965" y="2965399"/>
            <a:ext cx="2830068" cy="516635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58321493-7CF9-4308-8C9B-2F749DCFE3CB}"/>
              </a:ext>
            </a:extLst>
          </p:cNvPr>
          <p:cNvSpPr txBox="1"/>
          <p:nvPr/>
        </p:nvSpPr>
        <p:spPr>
          <a:xfrm>
            <a:off x="395935" y="3591763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高于子轴地板 　　　　，比值 　　　；浅导频（　　　　）时可达一个量级以上。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6" name="Picture 55" descr="mk5ae5d4b800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492" y="3631387"/>
            <a:ext cx="694944" cy="188976"/>
          </a:xfrm>
          <a:prstGeom prst="rect">
            <a:avLst/>
          </a:prstGeom>
        </p:spPr>
      </p:pic>
      <p:pic>
        <p:nvPicPr>
          <p:cNvPr id="57" name="Picture 56" descr="mkb1291cbaa4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640" y="3594506"/>
            <a:ext cx="527304" cy="187452"/>
          </a:xfrm>
          <a:prstGeom prst="rect">
            <a:avLst/>
          </a:prstGeom>
        </p:spPr>
      </p:pic>
      <p:pic>
        <p:nvPicPr>
          <p:cNvPr id="58" name="Picture 57" descr="mk0a3e6e8095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980" y="3660038"/>
            <a:ext cx="649224" cy="121920"/>
          </a:xfrm>
          <a:prstGeom prst="rect">
            <a:avLst/>
          </a:prstGeom>
        </p:spPr>
      </p:pic>
      <p:sp>
        <p:nvSpPr>
          <p:cNvPr id="59" name="文本框 3">
            <a:extLst>
              <a:ext uri="{FF2B5EF4-FFF2-40B4-BE49-F238E27FC236}">
                <a16:creationId xmlns:a16="http://schemas.microsoft.com/office/drawing/2014/main" id="{BE5D2D41-A294-48BC-92EC-A6CE0929D31C}"/>
              </a:ext>
            </a:extLst>
          </p:cNvPr>
          <p:cNvSpPr txBox="1"/>
          <p:nvPr/>
        </p:nvSpPr>
        <p:spPr>
          <a:xfrm>
            <a:off x="395935" y="3966667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对照基线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文献式三独立环：误差量取 (Y₁,Y₂,Z₋)，参考由理想模型算，斜率取理想雅可比对角元；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保留理想耦合项，但不做矩阵反演、不辨识 A≠A₀ 与 b≠0 的线性失配。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262A64-9F2D-4304-BB56-0C2899730ABF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两阶段监督状态机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标定阶段：扫描 → 拟合与规范固定 → 自检；运行阶段每周期：锁相读出 → 解调 →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 → 残差监测；残差越限持续 M 周期即触发微幅弧重定标并返回标定通道。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313FB4B-D2CF-4EBC-BA11-B5D2BD9238C3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偏压控制算法设计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q0lxet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86863"/>
            <a:ext cx="8229600" cy="3312222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9ADF7736-0490-4286-BA70-CAB76CC6B984}"/>
              </a:ext>
            </a:extLst>
          </p:cNvPr>
          <p:cNvSpPr txBox="1"/>
          <p:nvPr/>
        </p:nvSpPr>
        <p:spPr>
          <a:xfrm>
            <a:off x="395935" y="5890525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 MZM 与 DPMZM 共用骨架，区别仅在拟合方式与解调算子（atan2 或 高斯–牛顿）。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14AF43-8818-4596-BE45-D985A51E3ACC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整定与实现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阈值整定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ρth 由标定末残差分布给出，配 EWMA（λ≈0.05）与连续 M（≈20–30）周期判决；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检测延迟量级约 M+1/λ 个控制周期。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重定标弧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±0.3 rad 量级微幅弧重新激励局部可辨识子空间（DPMZM 优先激励 s₁s₂ 子空间）。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定点化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atan2 用 CORDIC/查表；3×3 求解用 Cholesky 展开为定长乘加序列。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参数存储量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 MZM 六个标量；DPMZM 为 9×12+9 = 117 个标量。全周期代价 &lt; 10³ 次乘加。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BFFE63E-AE31-4425-8C5E-C367BA09BCD6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偏压控制算法设计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E1E125-4CFC-4121-8C75-23B3A49C168E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仿真设置与参数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受扰真值 A真值=A₀+δA·ΔA、b真值=δb·Δb，δA=0.12（相对 Frobenius 尺度）；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叠加逐通道高斯噪声与共同漂移序列（随机游走+慢正弦），对比控制器施同源漂移。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28A4865-CAD7-40B8-A1FA-A4928699ACC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457200" y="2505151"/>
          <a:ext cx="82296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参数组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取值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单 MZM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m=1.2、gX=1.18、gY=0.88、δ=10°、ε=0.10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b=(0.030, −0.022)、σ=0.005、N=360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DPMZM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m₁=m₂=m₃=1.2、σ=0.002、N=3000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导频频率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ω₁:ω₂:ω₃ = 1 : 1.37 : 1.93（互调不碰撞）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文本框 3">
            <a:extLst>
              <a:ext uri="{FF2B5EF4-FFF2-40B4-BE49-F238E27FC236}">
                <a16:creationId xmlns:a16="http://schemas.microsoft.com/office/drawing/2014/main" id="{F31B122C-BF57-4133-AC69-CF7297BD23EA}"/>
              </a:ext>
            </a:extLst>
          </p:cNvPr>
          <p:cNvSpPr txBox="1"/>
          <p:nvPr/>
        </p:nvSpPr>
        <p:spPr>
          <a:xfrm>
            <a:off x="395935" y="4900879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日常电压量经 　　　　　、　　　　　　　　 换成相位量，或并入归一化 　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09d7d63692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38" y="4967935"/>
            <a:ext cx="873252" cy="161544"/>
          </a:xfrm>
          <a:prstGeom prst="rect">
            <a:avLst/>
          </a:prstGeom>
        </p:spPr>
      </p:pic>
      <p:pic>
        <p:nvPicPr>
          <p:cNvPr id="55" name="Picture 54" descr="mk05f76facf1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7" y="4966411"/>
            <a:ext cx="1292352" cy="163068"/>
          </a:xfrm>
          <a:prstGeom prst="rect">
            <a:avLst/>
          </a:prstGeom>
        </p:spPr>
      </p:pic>
      <p:pic>
        <p:nvPicPr>
          <p:cNvPr id="56" name="Picture 55" descr="mkc2524f04c9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169" y="5022799"/>
            <a:ext cx="146304" cy="1066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4CD226-C86A-4BC3-B1EE-4070B1E92BF4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主要结果（单 MZM）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7BAA21A-CD39-4E07-B610-F86BF61FA872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65760" y="1661871"/>
          <a:ext cx="8412480" cy="3520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量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零噪声解调误差（全周期）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0.0000 mrad（数值精度）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零噪声 Â 对真值 A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Frobenius 误差 0.00%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含噪标定解调偏差（σ=0.005）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中位 2.35、P95 6.25 mrad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规范固定：直流回归 对 argmin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~2 对 ~42 mrad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闭环（φ*=1.9）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仿射 12.7 / H1 匹配 1315 mrad（rms）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m=1.2 处 κ(A)（受扰真值）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2.59（理想比值 3.13）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文本框 3">
            <a:extLst>
              <a:ext uri="{FF2B5EF4-FFF2-40B4-BE49-F238E27FC236}">
                <a16:creationId xmlns:a16="http://schemas.microsoft.com/office/drawing/2014/main" id="{951D7165-3269-4D45-A845-0C018281E87C}"/>
              </a:ext>
            </a:extLst>
          </p:cNvPr>
          <p:cNvSpPr txBox="1"/>
          <p:nvPr/>
        </p:nvSpPr>
        <p:spPr>
          <a:xfrm>
            <a:off x="395935" y="529203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 (affine) 在仿真模型内为精确结构，而非小信号近似。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7E91B6-9B38-4BCF-B1B6-172046634D99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主要结果（DPMZM）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D6D29B0-39B5-4A6F-8792-E439F11B1133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65760" y="1661871"/>
          <a:ext cx="8412480" cy="3785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量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DΦ 对有限差分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最大 7.7×10⁻¹⁰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Klein 不变性 ‖Φ∘T₁−Φ‖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2.5×10⁻¹⁵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零噪声辨识 / GN 恢复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2.4×10⁻¹⁴% / 5×10⁻¹³ mrad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含噪辨识（σ=0.002）/ 解调偏差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0.17% / 中位 2.1、P95 4.3 mrad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σmin：六 / 九通道（标准点）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≈0（机器精度）/ 5.5×10⁻²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σmin：九通道于 (π,π,0)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1.1×10⁻¹⁷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闭环（任意目标点）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GN 17.2 / 三环 358 mrad（rms）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闭环（标准目标点）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GN 18.5 / 三环 397 mrad（rms）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A92450D-FE8B-4C87-82F9-4699D2E81D09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 MZM 闭环对比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任意目标点 φ*=1.9 rad，同源漂移，σ=0.005（对数误差轴）：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1078562-8F84-4FE9-BE28-3D98BCFD4BE5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gaowov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65223"/>
            <a:ext cx="6035040" cy="3192791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48E68F7C-402E-41BD-B8FF-7C89AB83F416}"/>
              </a:ext>
            </a:extLst>
          </p:cNvPr>
          <p:cNvSpPr txBox="1"/>
          <p:nvPr/>
        </p:nvSpPr>
        <p:spPr>
          <a:xfrm>
            <a:off x="395935" y="5349454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仿射解调保持 12.7 mrad rms；H1 幅值匹配锁入错误分支，静差 ~1.3 rad。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BC735A-F73E-44A0-9788-DE1C57649500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任意点性能随目标相位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 传统两类方案闭式静差在各自死区附近放大，仿射环路实测 rms 随目标点变化很小；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(b) 解调噪声地板：式 (var) 理论曲线、蒙特卡洛实测与上界 σ/σmin(A) 一致。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ED4CBF0-FACE-4E87-B0EA-D509EF625DA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4v5vvh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2771343"/>
            <a:ext cx="8595360" cy="214238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D914E9-3FE1-42AB-BD1E-499CFBB73E45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DPMZM 闭环跟踪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同源漂移，σ=0.002、δA=0.12（对数误差轴）：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82A053F-6133-4F1D-BED0-CBD38ADB7AB0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kc4ivcu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65223"/>
            <a:ext cx="8412480" cy="2349431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D36E2774-79FC-4323-904B-14148656237B}"/>
              </a:ext>
            </a:extLst>
          </p:cNvPr>
          <p:cNvSpPr txBox="1"/>
          <p:nvPr/>
        </p:nvSpPr>
        <p:spPr>
          <a:xfrm>
            <a:off x="395935" y="4506094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 任意目标点：三环基线 ~0.36 rad 静差；(b) 标准 QPSK 点基线仍经二阶小父轴斜率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继承可比静差；高斯–牛顿仿射控制器在两处均保持 ~18 mrad rms。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5422D7-66E1-4831-8367-34B8FDDA147D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蒙特卡洛静差 与 规范固定对照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左：30 个失配实现的 DPMZM 静差分布（三环基线携数百 mrad，任意目标处出现发散）；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右：规范固定方案对照——直流回归按 1/√N 收缩，argmin 基准受平坦极小值限制。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6424E81-78DD-4D49-ABCA-4D2B21E0BC57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xtjvt4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96" y="2771343"/>
            <a:ext cx="2583870" cy="1493171"/>
          </a:xfrm>
          <a:prstGeom prst="rect">
            <a:avLst/>
          </a:prstGeom>
        </p:spPr>
      </p:pic>
      <p:pic>
        <p:nvPicPr>
          <p:cNvPr id="53" name="Picture 52" descr="tmpu60yyz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47" y="2771343"/>
            <a:ext cx="5923655" cy="149317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5B1061-C11E-42CB-8C47-D23C637F1E86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算法级动态：捕获与阶跃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(左) 捕获瞬态：不同目标点误差曲线重合并贴合理论包络 (1−G)ⁿ；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(右) 设定点阶跃：各步整定 20–22 周期（至 20 mrad），与目标点无关。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6C6C3A6-B9EB-4780-A902-63F21A387825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lr3xbqq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1" y="2486863"/>
            <a:ext cx="4995910" cy="1237725"/>
          </a:xfrm>
          <a:prstGeom prst="rect">
            <a:avLst/>
          </a:prstGeom>
        </p:spPr>
      </p:pic>
      <p:pic>
        <p:nvPicPr>
          <p:cNvPr id="53" name="Picture 52" descr="tmpl38zfsb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511" y="2486863"/>
            <a:ext cx="3507766" cy="1237725"/>
          </a:xfrm>
          <a:prstGeom prst="rect">
            <a:avLst/>
          </a:prstGeom>
        </p:spPr>
      </p:pic>
      <p:sp>
        <p:nvSpPr>
          <p:cNvPr id="54" name="文本框 3">
            <a:extLst>
              <a:ext uri="{FF2B5EF4-FFF2-40B4-BE49-F238E27FC236}">
                <a16:creationId xmlns:a16="http://schemas.microsoft.com/office/drawing/2014/main" id="{53486134-FA4C-4DE8-B97B-F8AF62835CB2}"/>
              </a:ext>
            </a:extLst>
          </p:cNvPr>
          <p:cNvSpPr txBox="1"/>
          <p:nvPr/>
        </p:nvSpPr>
        <p:spPr>
          <a:xfrm>
            <a:off x="395935" y="3834316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时间常数 　　：MZM 　　　、DPMZM 　　　 个周期。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5" name="Picture 54" descr="mk36e392bf4d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356" y="3862967"/>
            <a:ext cx="280416" cy="161544"/>
          </a:xfrm>
          <a:prstGeom prst="rect">
            <a:avLst/>
          </a:prstGeom>
        </p:spPr>
      </p:pic>
      <p:pic>
        <p:nvPicPr>
          <p:cNvPr id="56" name="Picture 55" descr="mk7683ca00ba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698" y="3898019"/>
            <a:ext cx="374904" cy="126492"/>
          </a:xfrm>
          <a:prstGeom prst="rect">
            <a:avLst/>
          </a:prstGeom>
        </p:spPr>
      </p:pic>
      <p:pic>
        <p:nvPicPr>
          <p:cNvPr id="57" name="Picture 56" descr="mk95cd244504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7719" y="3901067"/>
            <a:ext cx="376428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D4B5A9-49F1-45D4-BD1F-6FD76264C075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算法级动态：残差触发重定标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 1200 周期注入漂移突变（gX:1.18→0.85 且 bx 跳变）：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圆残差 EWMA 越过阈值 ρth=0.06，经 31 周期判决延迟触发重定标。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608DCCA-CDD7-4049-A2BE-26B8CC66906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数值验证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a0phcip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86863"/>
            <a:ext cx="7863840" cy="2654709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2F6EAD44-5604-45C3-9857-98EE0A633700}"/>
              </a:ext>
            </a:extLst>
          </p:cNvPr>
          <p:cNvSpPr txBox="1"/>
          <p:nvPr/>
        </p:nvSpPr>
        <p:spPr>
          <a:xfrm>
            <a:off x="395935" y="5233012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失配期锁定误差升至 275 mrad，重定标后恢复至 13.7 mrad（突变前 12.6）。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7F723B-3D91-4D3F-9CAF-6E158BDEEFB5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测量链路（单 MZM）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TLS1000 激光（1550 nm、+10 dBm）入射 MZM，1:9 耦合器 10% 支路送 PP-10G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探测器，电输出进 SDS824X HD 示波器；上位机由 FFT 读观测向量 z，完成仿射反演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PI，再经 DG922 Pro 产生偏置与导频写回。RF 关断。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2AA1FB6-54CE-4028-8502-C65860BF6479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实验验证计划（待实测）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ciy0cq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73" y="3192983"/>
            <a:ext cx="6486053" cy="2933497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58EFE6EF-FD46-4D19-8172-8DB6E35A4335}"/>
              </a:ext>
            </a:extLst>
          </p:cNvPr>
          <p:cNvSpPr txBox="1"/>
          <p:nvPr/>
        </p:nvSpPr>
        <p:spPr>
          <a:xfrm>
            <a:off x="395935" y="6217920"/>
            <a:ext cx="8496604" cy="3108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导频 400 mVpp/音，　　　　　　　　　，　　　　　，须以 FFT 平均换信噪比。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mkb68bb69ea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487" y="6265164"/>
            <a:ext cx="1431036" cy="181356"/>
          </a:xfrm>
          <a:prstGeom prst="rect">
            <a:avLst/>
          </a:prstGeom>
        </p:spPr>
      </p:pic>
      <p:pic>
        <p:nvPicPr>
          <p:cNvPr id="55" name="Picture 54" descr="mk2f10f792dd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359" y="6281928"/>
            <a:ext cx="73609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B4A7B7-13FB-44CF-8408-9E1BF77AEE42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测量链路（DPMZM）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与单 MZM 同构，区别在三路偏置与三音导频（ω₁,ω₂,ω₃），由两台 DG922 Pro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（共六通道）产生；示波器 FFT 同时读取六谐波与三个互调通道。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0A823E5-A4ED-472D-9A5D-9C7BCDD7F2CA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实验验证计划（待实测）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tmp0b919y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35" y="2486863"/>
            <a:ext cx="7845129" cy="3548176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19EA2885-D102-4BE1-8A35-457C188AD6D1}"/>
              </a:ext>
            </a:extLst>
          </p:cNvPr>
          <p:cNvSpPr txBox="1"/>
          <p:nvPr/>
        </p:nvSpPr>
        <p:spPr>
          <a:xfrm>
            <a:off x="395935" y="6126479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规范固定所需直流由另一路慢速探测器获取（PP-10G 交流耦合，低频截止 ~30 kHz）。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严禁编造实测数据：本节为计划，占位图与“待测”单元待平台测试后填入。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E472DD-3F8B-4AC0-9769-9CF3536628E8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分阶段流程与判据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(0) 平台与 Vπ 标定；(1) 单 MZM 标定 ↔ 图(椭圆)；(2) 任意点锁定 ↔ 图(扫描)；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 噪声与导频深度，扫 m 核对 κ(A)；(4) 漂移与重定标，24h 连续运行；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(5) DPMZM 子轴 4π 与 Klein；(6) IMD 可观测性恢复；(7) 任意点三轴锁定。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判据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各实测指标与仿真同量级；任意点 rms 不随目标相位系统性放大；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IMD 通道确能在标准点附近恢复父偏置可观测性。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1D37632-EFEE-4749-BD80-1B8D7394660E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实验验证计划（待实测）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9DF74E-02BA-468F-98C0-276F0412281B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实验测试矩阵（节选）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B08D51A-07BF-4AFD-BDF0-3485A895C2B2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实验验证计划（待实测）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65760" y="1661871"/>
          <a:ext cx="8412480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仿真值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微软雅黑"/>
                          <a:ea typeface="微软雅黑"/>
                          <a:cs typeface="微软雅黑"/>
                        </a:rPr>
                        <a:t>实验值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标定自检残差（MZM）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中位 2.35 mrad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任意点锁定 rms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12.7 mrad@1.9 rad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噪声地板 κ(A)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2.59（m=1.2）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待测（m≈0.13：≈30）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DPMZM 辨识 relF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0.17%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IMD σmin（六→九，标准点）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≈0 → 5.5×10⁻²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任意点三轴 rms（GN/三环）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17.2 / 358 mrad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标准点三轴 rms（GN/三环）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18.5 / 397 mrad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微软雅黑"/>
                          <a:ea typeface="微软雅黑"/>
                          <a:cs typeface="微软雅黑"/>
                        </a:rPr>
                        <a:t>待测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0950DAC-BD7B-4A7C-B2F2-5BC5A4887E94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适用边界与开放问题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持续激励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闭环稳态下样本不再充分激励参数空间（辨识型控制共性）；用残差监测+重定标缓解。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漂移时间尺度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热致漂移秒~分钟、电荷/光折变分钟~小时；取控制周期 1–10 ms，导频带宽远高于漂移谱。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DP-QPSK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独立监测 PD 时模型块对角，两偏振分别套用本框架；共享 PD 时需扩展特征空间。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适用边界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接收链非线性、偏压相关吸收、直流基准 O(ε) 规范偏移限制绝对精度。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C1581ED-483E-43E2-95D7-7375DE8AF67C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讨论、展望与结论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443E46-1873-4F53-BE65-87C4AFC3C8DC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展望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器件维度推广：凡传递函数能按偏置相位与导频波形分离者（IQ 嵌套、级联调制器、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薄膜铌酸锂多电极）皆可写出相应 Φ 与仿射模型；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半参数辨识：把接收链非线性与偏压相关吸收作为已知结构纳入“仿射+非线性”模型；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在线自适应：子空间受限递推最小二乘 + 受激励调度，把重定标推进为持续自适应；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导频规划在线优化：以噪声协方差（式 var、Fisher/CRB）为目标，κ(A) 与父轴 IMD 信噪比为指标；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通道设计准则：由器件结构直接推出恢复满秩所需最小导频/谐波/互调通道集。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8F1DA32-A7A3-417E-A96D-9C520239BE61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讨论、展望与结论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7C4D5A-17C6-450D-A13C-0F5E28C2AC83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从偏置相位与导频时间波形的因子分解出发，证明 MZM 谐波解调观测是单位圆的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精确仿射像，并推广到 DPMZM 的 12 维三角特征映射；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特殊点锁定及其静差可解释为仿射观测的低维读出；任意点控制经标定、规范固定、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相位反演实现，闭环增益不再依赖目标点位置；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DPMZM 半角结构给出 4π 子轴周期、Klein 四元群等价与 IMD 通道秩条件解释；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C71F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仿真：毫弧度量级残差，较传统多环基线降低任意点静差一至两个数量级。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主要边界：接收链非线性、偏压相关吸收与持续激励，待残差监测/重定标/实验进一步量化。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41604C-C670-447A-9B72-21F4B0A5E64C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讨论、展望与结论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12281" y="2420916"/>
            <a:ext cx="3119438" cy="617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谢谢！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31719" y="4581096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汇报人：姓名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721FCE-AD45-4927-8D3B-A666AB9F5A1C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附录：导频失真下的首阶元素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 ξ=m sinωt + εm sin(2ωt+ψ)，展开并用投影恒等式得：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4203F48-46EC-4380-82CE-3E880FE00319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附录与备份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Picture 51" descr="ap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10" y="2083511"/>
            <a:ext cx="3649980" cy="481583"/>
          </a:xfrm>
          <a:prstGeom prst="rect">
            <a:avLst/>
          </a:prstGeom>
        </p:spPr>
      </p:pic>
      <p:sp>
        <p:nvSpPr>
          <p:cNvPr id="53" name="文本框 3">
            <a:extLst>
              <a:ext uri="{FF2B5EF4-FFF2-40B4-BE49-F238E27FC236}">
                <a16:creationId xmlns:a16="http://schemas.microsoft.com/office/drawing/2014/main" id="{6A6D84F9-911F-4BA6-9ED9-4EAEFA552184}"/>
              </a:ext>
            </a:extLst>
          </p:cNvPr>
          <p:cNvSpPr txBox="1"/>
          <p:nvPr/>
        </p:nvSpPr>
        <p:spPr>
          <a:xfrm>
            <a:off x="395935" y="2674823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代入即得 A 的非对角耦合（对角元不变）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4" name="Picture 53" descr="A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3233623"/>
            <a:ext cx="4224528" cy="524256"/>
          </a:xfrm>
          <a:prstGeom prst="rect">
            <a:avLst/>
          </a:prstGeom>
        </p:spPr>
      </p:pic>
      <p:sp>
        <p:nvSpPr>
          <p:cNvPr id="55" name="文本框 3">
            <a:extLst>
              <a:ext uri="{FF2B5EF4-FFF2-40B4-BE49-F238E27FC236}">
                <a16:creationId xmlns:a16="http://schemas.microsoft.com/office/drawing/2014/main" id="{528B31BF-F11A-41B9-8B03-1ED78C72EF91}"/>
              </a:ext>
            </a:extLst>
          </p:cNvPr>
          <p:cNvSpPr txBox="1"/>
          <p:nvPr/>
        </p:nvSpPr>
        <p:spPr>
          <a:xfrm>
            <a:off x="395935" y="3867607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直流曲线整体相移（限制绝对相位精度）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6" name="Picture 55" descr="d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49" y="4426407"/>
            <a:ext cx="2019300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7EA933-D0E9-4F61-93BD-2E91E97E073A}"/>
              </a:ext>
            </a:extLst>
          </p:cNvPr>
          <p:cNvSpPr txBox="1"/>
          <p:nvPr/>
        </p:nvSpPr>
        <p:spPr>
          <a:xfrm>
            <a:off x="395935" y="981151"/>
            <a:ext cx="8496604" cy="49171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备份：DPMZM 九通道首阶系数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自项展开用全深度 Jₙ(mᵢ)，交叉项用半深度 jₙ(mᵢ/2)；下表为首阶系数×单项式：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4A90337-DF06-4953-A0BE-98709A8C0DB6}"/>
              </a:ext>
            </a:extLst>
          </p:cNvPr>
          <p:cNvSpPr txBox="1"/>
          <p:nvPr/>
        </p:nvSpPr>
        <p:spPr>
          <a:xfrm>
            <a:off x="2966892" y="-206654"/>
            <a:ext cx="6035040" cy="877824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marL="0" lvl="0" indent="0" algn="ctr"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附录与备份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65760" y="2083511"/>
          <a:ext cx="8412480" cy="42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  <a:ea typeface="微软雅黑"/>
                          <a:cs typeface="微软雅黑"/>
                        </a:rPr>
                        <a:t>通道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  <a:ea typeface="微软雅黑"/>
                          <a:cs typeface="微软雅黑"/>
                        </a:rPr>
                        <a:t>首阶系数 × 单项式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Y₁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ω₁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子 I 锁定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X₁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2ω₁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判别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Y₂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ω₂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子 Q 锁定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X₂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2ω₂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判别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Y₃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ω₃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父（注意 c₁c₂）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X₃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2ω₃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父判别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Z₋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ω₁−ω₂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Kawakami 型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Z₁₃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ω₃−ω₁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本文引入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Z₂₃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ω₃−ω₂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微软雅黑"/>
                          <a:ea typeface="微软雅黑"/>
                          <a:cs typeface="微软雅黑"/>
                        </a:rPr>
                        <a:t>本文引入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3" name="Picture 52" descr="ch_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2591409"/>
            <a:ext cx="2645664" cy="246888"/>
          </a:xfrm>
          <a:prstGeom prst="rect">
            <a:avLst/>
          </a:prstGeom>
        </p:spPr>
      </p:pic>
      <p:pic>
        <p:nvPicPr>
          <p:cNvPr id="54" name="Picture 53" descr="ch_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956" y="3012033"/>
            <a:ext cx="2685288" cy="246888"/>
          </a:xfrm>
          <a:prstGeom prst="rect">
            <a:avLst/>
          </a:prstGeom>
        </p:spPr>
      </p:pic>
      <p:pic>
        <p:nvPicPr>
          <p:cNvPr id="55" name="Picture 54" descr="ch_y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768" y="3432657"/>
            <a:ext cx="2645664" cy="246888"/>
          </a:xfrm>
          <a:prstGeom prst="rect">
            <a:avLst/>
          </a:prstGeom>
        </p:spPr>
      </p:pic>
      <p:pic>
        <p:nvPicPr>
          <p:cNvPr id="56" name="Picture 55" descr="ch_x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956" y="3853281"/>
            <a:ext cx="2685288" cy="246888"/>
          </a:xfrm>
          <a:prstGeom prst="rect">
            <a:avLst/>
          </a:prstGeom>
        </p:spPr>
      </p:pic>
      <p:pic>
        <p:nvPicPr>
          <p:cNvPr id="57" name="Picture 56" descr="ch_y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736" y="4273905"/>
            <a:ext cx="1633728" cy="246888"/>
          </a:xfrm>
          <a:prstGeom prst="rect">
            <a:avLst/>
          </a:prstGeom>
        </p:spPr>
      </p:pic>
      <p:pic>
        <p:nvPicPr>
          <p:cNvPr id="58" name="Picture 57" descr="ch_x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830" y="4694529"/>
            <a:ext cx="1653540" cy="246888"/>
          </a:xfrm>
          <a:prstGeom prst="rect">
            <a:avLst/>
          </a:prstGeom>
        </p:spPr>
      </p:pic>
      <p:pic>
        <p:nvPicPr>
          <p:cNvPr id="59" name="Picture 58" descr="ch_z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3736" y="5115915"/>
            <a:ext cx="1633728" cy="245363"/>
          </a:xfrm>
          <a:prstGeom prst="rect">
            <a:avLst/>
          </a:prstGeom>
        </p:spPr>
      </p:pic>
      <p:pic>
        <p:nvPicPr>
          <p:cNvPr id="60" name="Picture 59" descr="ch_z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89070" y="5535777"/>
            <a:ext cx="1623060" cy="246888"/>
          </a:xfrm>
          <a:prstGeom prst="rect">
            <a:avLst/>
          </a:prstGeom>
        </p:spPr>
      </p:pic>
      <p:pic>
        <p:nvPicPr>
          <p:cNvPr id="61" name="Picture 60" descr="ch_z2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9070" y="5956401"/>
            <a:ext cx="1623060" cy="246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3600" b="1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43559</TotalTime>
  <Words>3037</Words>
  <Application>Microsoft Office PowerPoint</Application>
  <PresentationFormat>全屏显示(4:3)</PresentationFormat>
  <Paragraphs>502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53</vt:i4>
      </vt:variant>
    </vt:vector>
  </HeadingPairs>
  <TitlesOfParts>
    <vt:vector size="68" baseType="lpstr">
      <vt:lpstr>Microsoft yahei</vt:lpstr>
      <vt:lpstr>Microsoft yahei</vt:lpstr>
      <vt:lpstr>Arial</vt:lpstr>
      <vt:lpstr>Calibri</vt:lpstr>
      <vt:lpstr>Times New Roman</vt:lpstr>
      <vt:lpstr>Wingdings</vt:lpstr>
      <vt:lpstr>Office 主题</vt:lpstr>
      <vt:lpstr>1_Office 主题</vt:lpstr>
      <vt:lpstr>2_Office 主题</vt:lpstr>
      <vt:lpstr>3_主题</vt:lpstr>
      <vt:lpstr>3_Office 主题</vt:lpstr>
      <vt:lpstr>4_Office 主题</vt:lpstr>
      <vt:lpstr>5_Office 主题</vt:lpstr>
      <vt:lpstr>Office 主题​​</vt:lpstr>
      <vt:lpstr>6_Office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</dc:creator>
  <cp:lastModifiedBy>新科 张</cp:lastModifiedBy>
  <cp:revision>994</cp:revision>
  <dcterms:created xsi:type="dcterms:W3CDTF">2014-10-06T02:03:00Z</dcterms:created>
  <dcterms:modified xsi:type="dcterms:W3CDTF">2026-06-17T13:11:05Z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KSORubyTemplateID">
    <vt:lpwstr>2</vt:lpwstr>
  </property>
  <property fmtid="{D5CDD505-2E9C-101B-9397-08002B2CF9AE}" pid="4" name="ICV">
    <vt:lpwstr>90893D090B6E4F39B6771B088060E365_13</vt:lpwstr>
  </property>
</Properties>
</file>